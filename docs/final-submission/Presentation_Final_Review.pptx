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9" r:id="rId3"/>
    <p:sldId id="264" r:id="rId4"/>
    <p:sldId id="268" r:id="rId5"/>
    <p:sldId id="279" r:id="rId6"/>
    <p:sldId id="269" r:id="rId7"/>
    <p:sldId id="283" r:id="rId8"/>
    <p:sldId id="270" r:id="rId9"/>
    <p:sldId id="272" r:id="rId10"/>
    <p:sldId id="280" r:id="rId11"/>
    <p:sldId id="282" r:id="rId12"/>
    <p:sldId id="281" r:id="rId13"/>
    <p:sldId id="273" r:id="rId14"/>
    <p:sldId id="284" r:id="rId15"/>
    <p:sldId id="274"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10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DE83D5-64E4-053B-6531-F88C68C510FF}"/>
              </a:ext>
            </a:extLst>
          </p:cNvPr>
          <p:cNvSpPr>
            <a:spLocks noGrp="1"/>
          </p:cNvSpPr>
          <p:nvPr>
            <p:ph type="dt" sz="half" idx="10"/>
          </p:nvPr>
        </p:nvSpPr>
        <p:spPr/>
        <p:txBody>
          <a:bodyPr/>
          <a:lstStyle>
            <a:lvl1pPr>
              <a:defRPr/>
            </a:lvl1pPr>
          </a:lstStyle>
          <a:p>
            <a:pPr>
              <a:defRPr/>
            </a:pPr>
            <a:fld id="{F445C2E9-CCF6-4ED4-A243-522D65203363}" type="datetimeFigureOut">
              <a:rPr lang="en-IN"/>
              <a:pPr>
                <a:defRPr/>
              </a:pPr>
              <a:t>26-09-2026</a:t>
            </a:fld>
            <a:endParaRPr lang="en-IN"/>
          </a:p>
        </p:txBody>
      </p:sp>
      <p:sp>
        <p:nvSpPr>
          <p:cNvPr id="5" name="Footer Placeholder 4">
            <a:extLst>
              <a:ext uri="{FF2B5EF4-FFF2-40B4-BE49-F238E27FC236}">
                <a16:creationId xmlns:a16="http://schemas.microsoft.com/office/drawing/2014/main" id="{E3361984-FC49-4D23-F39B-5597220F2C3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1FB5AA2B-1E10-2150-DE5C-239EB07856F2}"/>
              </a:ext>
            </a:extLst>
          </p:cNvPr>
          <p:cNvSpPr>
            <a:spLocks noGrp="1"/>
          </p:cNvSpPr>
          <p:nvPr>
            <p:ph type="sldNum" sz="quarter" idx="12"/>
          </p:nvPr>
        </p:nvSpPr>
        <p:spPr/>
        <p:txBody>
          <a:bodyPr/>
          <a:lstStyle>
            <a:lvl1pPr>
              <a:defRPr/>
            </a:lvl1pPr>
          </a:lstStyle>
          <a:p>
            <a:pPr>
              <a:defRPr/>
            </a:pPr>
            <a:fld id="{030082B1-D634-4ADA-830F-1128B375DE0E}" type="slidenum">
              <a:rPr lang="en-IN" altLang="en-US"/>
              <a:pPr>
                <a:defRPr/>
              </a:pPr>
              <a:t>‹#›</a:t>
            </a:fld>
            <a:endParaRPr lang="en-IN" altLang="en-US"/>
          </a:p>
        </p:txBody>
      </p:sp>
    </p:spTree>
    <p:extLst>
      <p:ext uri="{BB962C8B-B14F-4D97-AF65-F5344CB8AC3E}">
        <p14:creationId xmlns:p14="http://schemas.microsoft.com/office/powerpoint/2010/main" val="1928193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400B99-22CF-2307-D8B4-FDCB1BCF3C93}"/>
              </a:ext>
            </a:extLst>
          </p:cNvPr>
          <p:cNvSpPr>
            <a:spLocks noGrp="1"/>
          </p:cNvSpPr>
          <p:nvPr>
            <p:ph type="dt" sz="half" idx="10"/>
          </p:nvPr>
        </p:nvSpPr>
        <p:spPr/>
        <p:txBody>
          <a:bodyPr/>
          <a:lstStyle>
            <a:lvl1pPr>
              <a:defRPr/>
            </a:lvl1pPr>
          </a:lstStyle>
          <a:p>
            <a:pPr>
              <a:defRPr/>
            </a:pPr>
            <a:fld id="{1AA20A5D-9D50-443B-BD26-9FD3ADBCAF91}" type="datetimeFigureOut">
              <a:rPr lang="en-IN"/>
              <a:pPr>
                <a:defRPr/>
              </a:pPr>
              <a:t>26-09-2026</a:t>
            </a:fld>
            <a:endParaRPr lang="en-IN"/>
          </a:p>
        </p:txBody>
      </p:sp>
      <p:sp>
        <p:nvSpPr>
          <p:cNvPr id="5" name="Footer Placeholder 4">
            <a:extLst>
              <a:ext uri="{FF2B5EF4-FFF2-40B4-BE49-F238E27FC236}">
                <a16:creationId xmlns:a16="http://schemas.microsoft.com/office/drawing/2014/main" id="{B99791F6-E9DA-C947-5131-53706D6EA89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F8D98673-1D23-BED8-75AF-22B86B35AF9E}"/>
              </a:ext>
            </a:extLst>
          </p:cNvPr>
          <p:cNvSpPr>
            <a:spLocks noGrp="1"/>
          </p:cNvSpPr>
          <p:nvPr>
            <p:ph type="sldNum" sz="quarter" idx="12"/>
          </p:nvPr>
        </p:nvSpPr>
        <p:spPr/>
        <p:txBody>
          <a:bodyPr/>
          <a:lstStyle>
            <a:lvl1pPr>
              <a:defRPr/>
            </a:lvl1pPr>
          </a:lstStyle>
          <a:p>
            <a:pPr>
              <a:defRPr/>
            </a:pPr>
            <a:fld id="{D6E82732-D935-4158-AED9-E78BF8B5169E}" type="slidenum">
              <a:rPr lang="en-IN" altLang="en-US"/>
              <a:pPr>
                <a:defRPr/>
              </a:pPr>
              <a:t>‹#›</a:t>
            </a:fld>
            <a:endParaRPr lang="en-IN" altLang="en-US"/>
          </a:p>
        </p:txBody>
      </p:sp>
    </p:spTree>
    <p:extLst>
      <p:ext uri="{BB962C8B-B14F-4D97-AF65-F5344CB8AC3E}">
        <p14:creationId xmlns:p14="http://schemas.microsoft.com/office/powerpoint/2010/main" val="86581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D56310-8C0D-8504-CDF5-AA16EC121425}"/>
              </a:ext>
            </a:extLst>
          </p:cNvPr>
          <p:cNvSpPr>
            <a:spLocks noGrp="1"/>
          </p:cNvSpPr>
          <p:nvPr>
            <p:ph type="dt" sz="half" idx="10"/>
          </p:nvPr>
        </p:nvSpPr>
        <p:spPr/>
        <p:txBody>
          <a:bodyPr/>
          <a:lstStyle>
            <a:lvl1pPr>
              <a:defRPr/>
            </a:lvl1pPr>
          </a:lstStyle>
          <a:p>
            <a:pPr>
              <a:defRPr/>
            </a:pPr>
            <a:fld id="{61A60ED2-B646-4D0F-BB3E-9729EB9DD4CE}" type="datetimeFigureOut">
              <a:rPr lang="en-IN"/>
              <a:pPr>
                <a:defRPr/>
              </a:pPr>
              <a:t>26-09-2026</a:t>
            </a:fld>
            <a:endParaRPr lang="en-IN"/>
          </a:p>
        </p:txBody>
      </p:sp>
      <p:sp>
        <p:nvSpPr>
          <p:cNvPr id="5" name="Footer Placeholder 4">
            <a:extLst>
              <a:ext uri="{FF2B5EF4-FFF2-40B4-BE49-F238E27FC236}">
                <a16:creationId xmlns:a16="http://schemas.microsoft.com/office/drawing/2014/main" id="{B57800EC-9CE5-A599-5243-6C014C81F30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228086EC-36C7-8189-7057-09FC5EA0E3CA}"/>
              </a:ext>
            </a:extLst>
          </p:cNvPr>
          <p:cNvSpPr>
            <a:spLocks noGrp="1"/>
          </p:cNvSpPr>
          <p:nvPr>
            <p:ph type="sldNum" sz="quarter" idx="12"/>
          </p:nvPr>
        </p:nvSpPr>
        <p:spPr/>
        <p:txBody>
          <a:bodyPr/>
          <a:lstStyle>
            <a:lvl1pPr>
              <a:defRPr/>
            </a:lvl1pPr>
          </a:lstStyle>
          <a:p>
            <a:pPr>
              <a:defRPr/>
            </a:pPr>
            <a:fld id="{5DBE81D9-E306-49A5-AFA6-B0E848C94587}" type="slidenum">
              <a:rPr lang="en-IN" altLang="en-US"/>
              <a:pPr>
                <a:defRPr/>
              </a:pPr>
              <a:t>‹#›</a:t>
            </a:fld>
            <a:endParaRPr lang="en-IN" altLang="en-US"/>
          </a:p>
        </p:txBody>
      </p:sp>
    </p:spTree>
    <p:extLst>
      <p:ext uri="{BB962C8B-B14F-4D97-AF65-F5344CB8AC3E}">
        <p14:creationId xmlns:p14="http://schemas.microsoft.com/office/powerpoint/2010/main" val="699135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0123029F-06EF-37A1-F621-5BE61D3C804E}"/>
              </a:ext>
            </a:extLst>
          </p:cNvPr>
          <p:cNvSpPr>
            <a:spLocks noGrp="1"/>
          </p:cNvSpPr>
          <p:nvPr>
            <p:ph type="dt" sz="half" idx="10"/>
          </p:nvPr>
        </p:nvSpPr>
        <p:spPr/>
        <p:txBody>
          <a:bodyPr/>
          <a:lstStyle>
            <a:lvl1pPr>
              <a:defRPr/>
            </a:lvl1pPr>
          </a:lstStyle>
          <a:p>
            <a:pPr>
              <a:defRPr/>
            </a:pPr>
            <a:fld id="{1654BD4A-AEFA-4C31-8249-B2F33E8E719D}" type="datetimeFigureOut">
              <a:rPr lang="en-IN"/>
              <a:pPr>
                <a:defRPr/>
              </a:pPr>
              <a:t>26-09-2026</a:t>
            </a:fld>
            <a:endParaRPr lang="en-IN"/>
          </a:p>
        </p:txBody>
      </p:sp>
      <p:sp>
        <p:nvSpPr>
          <p:cNvPr id="6" name="Footer Placeholder 4">
            <a:extLst>
              <a:ext uri="{FF2B5EF4-FFF2-40B4-BE49-F238E27FC236}">
                <a16:creationId xmlns:a16="http://schemas.microsoft.com/office/drawing/2014/main" id="{464618DA-F795-6F21-1FE1-084AC2D8167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B577EAFB-4336-24D2-48BF-76668048B2DE}"/>
              </a:ext>
            </a:extLst>
          </p:cNvPr>
          <p:cNvSpPr>
            <a:spLocks noGrp="1"/>
          </p:cNvSpPr>
          <p:nvPr>
            <p:ph type="sldNum" sz="quarter" idx="12"/>
          </p:nvPr>
        </p:nvSpPr>
        <p:spPr/>
        <p:txBody>
          <a:bodyPr/>
          <a:lstStyle>
            <a:lvl1pPr>
              <a:defRPr/>
            </a:lvl1pPr>
          </a:lstStyle>
          <a:p>
            <a:pPr>
              <a:defRPr/>
            </a:pPr>
            <a:fld id="{4B02CC50-F745-4C6F-BFBA-059B84962B54}" type="slidenum">
              <a:rPr lang="en-IN" altLang="en-US"/>
              <a:pPr>
                <a:defRPr/>
              </a:pPr>
              <a:t>‹#›</a:t>
            </a:fld>
            <a:endParaRPr lang="en-IN" altLang="en-US"/>
          </a:p>
        </p:txBody>
      </p:sp>
    </p:spTree>
    <p:extLst>
      <p:ext uri="{BB962C8B-B14F-4D97-AF65-F5344CB8AC3E}">
        <p14:creationId xmlns:p14="http://schemas.microsoft.com/office/powerpoint/2010/main" val="208572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5325337C-39C3-FBA4-705B-1EF6A97A91D1}"/>
              </a:ext>
            </a:extLst>
          </p:cNvPr>
          <p:cNvSpPr>
            <a:spLocks noGrp="1"/>
          </p:cNvSpPr>
          <p:nvPr>
            <p:ph type="dt" sz="half" idx="10"/>
          </p:nvPr>
        </p:nvSpPr>
        <p:spPr/>
        <p:txBody>
          <a:bodyPr/>
          <a:lstStyle>
            <a:lvl1pPr>
              <a:defRPr/>
            </a:lvl1pPr>
          </a:lstStyle>
          <a:p>
            <a:pPr>
              <a:defRPr/>
            </a:pPr>
            <a:fld id="{C0912251-8059-44A8-80AB-3A060FEA9BB2}" type="datetimeFigureOut">
              <a:rPr lang="en-IN"/>
              <a:pPr>
                <a:defRPr/>
              </a:pPr>
              <a:t>26-09-2026</a:t>
            </a:fld>
            <a:endParaRPr lang="en-IN"/>
          </a:p>
        </p:txBody>
      </p:sp>
      <p:sp>
        <p:nvSpPr>
          <p:cNvPr id="8" name="Footer Placeholder 4">
            <a:extLst>
              <a:ext uri="{FF2B5EF4-FFF2-40B4-BE49-F238E27FC236}">
                <a16:creationId xmlns:a16="http://schemas.microsoft.com/office/drawing/2014/main" id="{F036BC49-A330-F61D-DC84-4D1DD8419006}"/>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58F9C4B8-A34B-ED7C-8573-1A6CEF7384FF}"/>
              </a:ext>
            </a:extLst>
          </p:cNvPr>
          <p:cNvSpPr>
            <a:spLocks noGrp="1"/>
          </p:cNvSpPr>
          <p:nvPr>
            <p:ph type="sldNum" sz="quarter" idx="12"/>
          </p:nvPr>
        </p:nvSpPr>
        <p:spPr/>
        <p:txBody>
          <a:bodyPr/>
          <a:lstStyle>
            <a:lvl1pPr>
              <a:defRPr/>
            </a:lvl1pPr>
          </a:lstStyle>
          <a:p>
            <a:pPr>
              <a:defRPr/>
            </a:pPr>
            <a:fld id="{6623516E-22BE-4A7E-B55D-1F2786DA9838}" type="slidenum">
              <a:rPr lang="en-IN" altLang="en-US"/>
              <a:pPr>
                <a:defRPr/>
              </a:pPr>
              <a:t>‹#›</a:t>
            </a:fld>
            <a:endParaRPr lang="en-IN" altLang="en-US"/>
          </a:p>
        </p:txBody>
      </p:sp>
    </p:spTree>
    <p:extLst>
      <p:ext uri="{BB962C8B-B14F-4D97-AF65-F5344CB8AC3E}">
        <p14:creationId xmlns:p14="http://schemas.microsoft.com/office/powerpoint/2010/main" val="868932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8F179CBC-BDC7-0C0C-836B-245D366AB621}"/>
              </a:ext>
            </a:extLst>
          </p:cNvPr>
          <p:cNvSpPr>
            <a:spLocks noGrp="1"/>
          </p:cNvSpPr>
          <p:nvPr>
            <p:ph type="dt" sz="half" idx="10"/>
          </p:nvPr>
        </p:nvSpPr>
        <p:spPr/>
        <p:txBody>
          <a:bodyPr/>
          <a:lstStyle>
            <a:lvl1pPr>
              <a:defRPr/>
            </a:lvl1pPr>
          </a:lstStyle>
          <a:p>
            <a:pPr>
              <a:defRPr/>
            </a:pPr>
            <a:fld id="{D62E541F-6DE7-48AB-83F1-C5E7AABF850D}" type="datetimeFigureOut">
              <a:rPr lang="en-IN"/>
              <a:pPr>
                <a:defRPr/>
              </a:pPr>
              <a:t>26-09-2026</a:t>
            </a:fld>
            <a:endParaRPr lang="en-IN"/>
          </a:p>
        </p:txBody>
      </p:sp>
      <p:sp>
        <p:nvSpPr>
          <p:cNvPr id="4" name="Footer Placeholder 4">
            <a:extLst>
              <a:ext uri="{FF2B5EF4-FFF2-40B4-BE49-F238E27FC236}">
                <a16:creationId xmlns:a16="http://schemas.microsoft.com/office/drawing/2014/main" id="{8D280BB0-F74C-30F3-AD27-34016376F332}"/>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768B9593-665E-861A-8922-3A6C4FD3C800}"/>
              </a:ext>
            </a:extLst>
          </p:cNvPr>
          <p:cNvSpPr>
            <a:spLocks noGrp="1"/>
          </p:cNvSpPr>
          <p:nvPr>
            <p:ph type="sldNum" sz="quarter" idx="12"/>
          </p:nvPr>
        </p:nvSpPr>
        <p:spPr/>
        <p:txBody>
          <a:bodyPr/>
          <a:lstStyle>
            <a:lvl1pPr>
              <a:defRPr/>
            </a:lvl1pPr>
          </a:lstStyle>
          <a:p>
            <a:pPr>
              <a:defRPr/>
            </a:pPr>
            <a:fld id="{98DAE65D-94A5-462B-BF2A-B8902C7BC508}" type="slidenum">
              <a:rPr lang="en-IN" altLang="en-US"/>
              <a:pPr>
                <a:defRPr/>
              </a:pPr>
              <a:t>‹#›</a:t>
            </a:fld>
            <a:endParaRPr lang="en-IN" altLang="en-US"/>
          </a:p>
        </p:txBody>
      </p:sp>
    </p:spTree>
    <p:extLst>
      <p:ext uri="{BB962C8B-B14F-4D97-AF65-F5344CB8AC3E}">
        <p14:creationId xmlns:p14="http://schemas.microsoft.com/office/powerpoint/2010/main" val="22380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ED29B30-2FCA-96CA-5E1F-329AC60F2DE4}"/>
              </a:ext>
            </a:extLst>
          </p:cNvPr>
          <p:cNvSpPr>
            <a:spLocks noGrp="1"/>
          </p:cNvSpPr>
          <p:nvPr>
            <p:ph type="dt" sz="half" idx="10"/>
          </p:nvPr>
        </p:nvSpPr>
        <p:spPr/>
        <p:txBody>
          <a:bodyPr/>
          <a:lstStyle>
            <a:lvl1pPr>
              <a:defRPr/>
            </a:lvl1pPr>
          </a:lstStyle>
          <a:p>
            <a:pPr>
              <a:defRPr/>
            </a:pPr>
            <a:fld id="{CBB8DBC9-C4C4-4630-901A-54AB4A6EF89B}" type="datetimeFigureOut">
              <a:rPr lang="en-IN"/>
              <a:pPr>
                <a:defRPr/>
              </a:pPr>
              <a:t>26-09-2026</a:t>
            </a:fld>
            <a:endParaRPr lang="en-IN"/>
          </a:p>
        </p:txBody>
      </p:sp>
      <p:sp>
        <p:nvSpPr>
          <p:cNvPr id="3" name="Footer Placeholder 4">
            <a:extLst>
              <a:ext uri="{FF2B5EF4-FFF2-40B4-BE49-F238E27FC236}">
                <a16:creationId xmlns:a16="http://schemas.microsoft.com/office/drawing/2014/main" id="{4CA5AFB1-E6A3-CC6F-F690-A09AEC81BD22}"/>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36C9A49-E3EC-05AD-BBA5-E7A26AD9D3A7}"/>
              </a:ext>
            </a:extLst>
          </p:cNvPr>
          <p:cNvSpPr>
            <a:spLocks noGrp="1"/>
          </p:cNvSpPr>
          <p:nvPr>
            <p:ph type="sldNum" sz="quarter" idx="12"/>
          </p:nvPr>
        </p:nvSpPr>
        <p:spPr/>
        <p:txBody>
          <a:bodyPr/>
          <a:lstStyle>
            <a:lvl1pPr>
              <a:defRPr/>
            </a:lvl1pPr>
          </a:lstStyle>
          <a:p>
            <a:pPr>
              <a:defRPr/>
            </a:pPr>
            <a:fld id="{5C11FA83-7D33-4E60-9F81-1478D1C54DDD}" type="slidenum">
              <a:rPr lang="en-IN" altLang="en-US"/>
              <a:pPr>
                <a:defRPr/>
              </a:pPr>
              <a:t>‹#›</a:t>
            </a:fld>
            <a:endParaRPr lang="en-IN" altLang="en-US"/>
          </a:p>
        </p:txBody>
      </p:sp>
    </p:spTree>
    <p:extLst>
      <p:ext uri="{BB962C8B-B14F-4D97-AF65-F5344CB8AC3E}">
        <p14:creationId xmlns:p14="http://schemas.microsoft.com/office/powerpoint/2010/main" val="1713732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9777B907-F74C-4C6F-E2C9-15089340138C}"/>
              </a:ext>
            </a:extLst>
          </p:cNvPr>
          <p:cNvSpPr>
            <a:spLocks noGrp="1"/>
          </p:cNvSpPr>
          <p:nvPr>
            <p:ph type="dt" sz="half" idx="10"/>
          </p:nvPr>
        </p:nvSpPr>
        <p:spPr/>
        <p:txBody>
          <a:bodyPr/>
          <a:lstStyle>
            <a:lvl1pPr>
              <a:defRPr/>
            </a:lvl1pPr>
          </a:lstStyle>
          <a:p>
            <a:pPr>
              <a:defRPr/>
            </a:pPr>
            <a:fld id="{D32D6AF2-9DA6-4BB3-B222-7744C7F621A1}" type="datetimeFigureOut">
              <a:rPr lang="en-IN"/>
              <a:pPr>
                <a:defRPr/>
              </a:pPr>
              <a:t>26-09-2026</a:t>
            </a:fld>
            <a:endParaRPr lang="en-IN"/>
          </a:p>
        </p:txBody>
      </p:sp>
      <p:sp>
        <p:nvSpPr>
          <p:cNvPr id="6" name="Footer Placeholder 4">
            <a:extLst>
              <a:ext uri="{FF2B5EF4-FFF2-40B4-BE49-F238E27FC236}">
                <a16:creationId xmlns:a16="http://schemas.microsoft.com/office/drawing/2014/main" id="{C6C2B876-0225-89F5-EED6-C5FC98A4E215}"/>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1D63810-01B1-2265-137B-0B4A7F94DD4D}"/>
              </a:ext>
            </a:extLst>
          </p:cNvPr>
          <p:cNvSpPr>
            <a:spLocks noGrp="1"/>
          </p:cNvSpPr>
          <p:nvPr>
            <p:ph type="sldNum" sz="quarter" idx="12"/>
          </p:nvPr>
        </p:nvSpPr>
        <p:spPr/>
        <p:txBody>
          <a:bodyPr/>
          <a:lstStyle>
            <a:lvl1pPr>
              <a:defRPr/>
            </a:lvl1pPr>
          </a:lstStyle>
          <a:p>
            <a:pPr>
              <a:defRPr/>
            </a:pPr>
            <a:fld id="{6FDFA051-84A8-4B89-ACD1-82A449563A36}" type="slidenum">
              <a:rPr lang="en-IN" altLang="en-US"/>
              <a:pPr>
                <a:defRPr/>
              </a:pPr>
              <a:t>‹#›</a:t>
            </a:fld>
            <a:endParaRPr lang="en-IN" altLang="en-US"/>
          </a:p>
        </p:txBody>
      </p:sp>
    </p:spTree>
    <p:extLst>
      <p:ext uri="{BB962C8B-B14F-4D97-AF65-F5344CB8AC3E}">
        <p14:creationId xmlns:p14="http://schemas.microsoft.com/office/powerpoint/2010/main" val="136606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B277D519-2BB8-878B-1F3A-8A38FF51FDC3}"/>
              </a:ext>
            </a:extLst>
          </p:cNvPr>
          <p:cNvSpPr>
            <a:spLocks noGrp="1"/>
          </p:cNvSpPr>
          <p:nvPr>
            <p:ph type="dt" sz="half" idx="10"/>
          </p:nvPr>
        </p:nvSpPr>
        <p:spPr/>
        <p:txBody>
          <a:bodyPr/>
          <a:lstStyle>
            <a:lvl1pPr>
              <a:defRPr/>
            </a:lvl1pPr>
          </a:lstStyle>
          <a:p>
            <a:pPr>
              <a:defRPr/>
            </a:pPr>
            <a:fld id="{AADD80D1-9378-4739-A51B-3E09837965C1}" type="datetimeFigureOut">
              <a:rPr lang="en-IN"/>
              <a:pPr>
                <a:defRPr/>
              </a:pPr>
              <a:t>26-09-2026</a:t>
            </a:fld>
            <a:endParaRPr lang="en-IN"/>
          </a:p>
        </p:txBody>
      </p:sp>
      <p:sp>
        <p:nvSpPr>
          <p:cNvPr id="6" name="Footer Placeholder 4">
            <a:extLst>
              <a:ext uri="{FF2B5EF4-FFF2-40B4-BE49-F238E27FC236}">
                <a16:creationId xmlns:a16="http://schemas.microsoft.com/office/drawing/2014/main" id="{F9F28CFE-0A8B-89AC-CD0B-0A4785158A2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A7817FC6-AF75-A02F-DE19-373BB57C83D4}"/>
              </a:ext>
            </a:extLst>
          </p:cNvPr>
          <p:cNvSpPr>
            <a:spLocks noGrp="1"/>
          </p:cNvSpPr>
          <p:nvPr>
            <p:ph type="sldNum" sz="quarter" idx="12"/>
          </p:nvPr>
        </p:nvSpPr>
        <p:spPr/>
        <p:txBody>
          <a:bodyPr/>
          <a:lstStyle>
            <a:lvl1pPr>
              <a:defRPr/>
            </a:lvl1pPr>
          </a:lstStyle>
          <a:p>
            <a:pPr>
              <a:defRPr/>
            </a:pPr>
            <a:fld id="{76367128-7D0A-4820-9214-50DD7BF26B95}" type="slidenum">
              <a:rPr lang="en-IN" altLang="en-US"/>
              <a:pPr>
                <a:defRPr/>
              </a:pPr>
              <a:t>‹#›</a:t>
            </a:fld>
            <a:endParaRPr lang="en-IN" altLang="en-US"/>
          </a:p>
        </p:txBody>
      </p:sp>
    </p:spTree>
    <p:extLst>
      <p:ext uri="{BB962C8B-B14F-4D97-AF65-F5344CB8AC3E}">
        <p14:creationId xmlns:p14="http://schemas.microsoft.com/office/powerpoint/2010/main" val="52491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5F9BCE-8018-B5FE-50BA-D53D8C0C70D4}"/>
              </a:ext>
            </a:extLst>
          </p:cNvPr>
          <p:cNvSpPr>
            <a:spLocks noGrp="1"/>
          </p:cNvSpPr>
          <p:nvPr>
            <p:ph type="dt" sz="half" idx="10"/>
          </p:nvPr>
        </p:nvSpPr>
        <p:spPr/>
        <p:txBody>
          <a:bodyPr/>
          <a:lstStyle>
            <a:lvl1pPr>
              <a:defRPr/>
            </a:lvl1pPr>
          </a:lstStyle>
          <a:p>
            <a:pPr>
              <a:defRPr/>
            </a:pPr>
            <a:fld id="{F33EBCC2-0456-46DC-9E81-D61484D7741F}" type="datetimeFigureOut">
              <a:rPr lang="en-IN"/>
              <a:pPr>
                <a:defRPr/>
              </a:pPr>
              <a:t>26-09-2026</a:t>
            </a:fld>
            <a:endParaRPr lang="en-IN"/>
          </a:p>
        </p:txBody>
      </p:sp>
      <p:sp>
        <p:nvSpPr>
          <p:cNvPr id="5" name="Footer Placeholder 4">
            <a:extLst>
              <a:ext uri="{FF2B5EF4-FFF2-40B4-BE49-F238E27FC236}">
                <a16:creationId xmlns:a16="http://schemas.microsoft.com/office/drawing/2014/main" id="{69647D63-F060-635A-8310-3E1878FFBD6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9188B084-40C7-85E0-6EA6-B0613A97EE2B}"/>
              </a:ext>
            </a:extLst>
          </p:cNvPr>
          <p:cNvSpPr>
            <a:spLocks noGrp="1"/>
          </p:cNvSpPr>
          <p:nvPr>
            <p:ph type="sldNum" sz="quarter" idx="12"/>
          </p:nvPr>
        </p:nvSpPr>
        <p:spPr/>
        <p:txBody>
          <a:bodyPr/>
          <a:lstStyle>
            <a:lvl1pPr>
              <a:defRPr/>
            </a:lvl1pPr>
          </a:lstStyle>
          <a:p>
            <a:pPr>
              <a:defRPr/>
            </a:pPr>
            <a:fld id="{C2BF64CD-A133-45DF-B17C-502A1AE0BEF9}" type="slidenum">
              <a:rPr lang="en-IN" altLang="en-US"/>
              <a:pPr>
                <a:defRPr/>
              </a:pPr>
              <a:t>‹#›</a:t>
            </a:fld>
            <a:endParaRPr lang="en-IN" altLang="en-US"/>
          </a:p>
        </p:txBody>
      </p:sp>
    </p:spTree>
    <p:extLst>
      <p:ext uri="{BB962C8B-B14F-4D97-AF65-F5344CB8AC3E}">
        <p14:creationId xmlns:p14="http://schemas.microsoft.com/office/powerpoint/2010/main" val="374898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68EFD5-B711-4BF8-1036-5E87129ECC95}"/>
              </a:ext>
            </a:extLst>
          </p:cNvPr>
          <p:cNvSpPr>
            <a:spLocks noGrp="1"/>
          </p:cNvSpPr>
          <p:nvPr>
            <p:ph type="dt" sz="half" idx="10"/>
          </p:nvPr>
        </p:nvSpPr>
        <p:spPr/>
        <p:txBody>
          <a:bodyPr/>
          <a:lstStyle>
            <a:lvl1pPr>
              <a:defRPr/>
            </a:lvl1pPr>
          </a:lstStyle>
          <a:p>
            <a:pPr>
              <a:defRPr/>
            </a:pPr>
            <a:fld id="{83F6E840-4900-41FD-A035-3034279CEA9D}" type="datetimeFigureOut">
              <a:rPr lang="en-IN"/>
              <a:pPr>
                <a:defRPr/>
              </a:pPr>
              <a:t>26-09-2026</a:t>
            </a:fld>
            <a:endParaRPr lang="en-IN"/>
          </a:p>
        </p:txBody>
      </p:sp>
      <p:sp>
        <p:nvSpPr>
          <p:cNvPr id="5" name="Footer Placeholder 4">
            <a:extLst>
              <a:ext uri="{FF2B5EF4-FFF2-40B4-BE49-F238E27FC236}">
                <a16:creationId xmlns:a16="http://schemas.microsoft.com/office/drawing/2014/main" id="{EAB46E83-0E3D-B190-167B-EB6DCBD3609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7E07E07F-F2B1-E662-E685-81D515D8B79E}"/>
              </a:ext>
            </a:extLst>
          </p:cNvPr>
          <p:cNvSpPr>
            <a:spLocks noGrp="1"/>
          </p:cNvSpPr>
          <p:nvPr>
            <p:ph type="sldNum" sz="quarter" idx="12"/>
          </p:nvPr>
        </p:nvSpPr>
        <p:spPr/>
        <p:txBody>
          <a:bodyPr/>
          <a:lstStyle>
            <a:lvl1pPr>
              <a:defRPr/>
            </a:lvl1pPr>
          </a:lstStyle>
          <a:p>
            <a:pPr>
              <a:defRPr/>
            </a:pPr>
            <a:fld id="{E01531A8-AA50-409E-AA83-37B29E52CF32}" type="slidenum">
              <a:rPr lang="en-IN" altLang="en-US"/>
              <a:pPr>
                <a:defRPr/>
              </a:pPr>
              <a:t>‹#›</a:t>
            </a:fld>
            <a:endParaRPr lang="en-IN" altLang="en-US"/>
          </a:p>
        </p:txBody>
      </p:sp>
    </p:spTree>
    <p:extLst>
      <p:ext uri="{BB962C8B-B14F-4D97-AF65-F5344CB8AC3E}">
        <p14:creationId xmlns:p14="http://schemas.microsoft.com/office/powerpoint/2010/main" val="8712081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A791319-9E1D-A04F-B3F0-4446EB742D04}"/>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F821C5ED-F738-9FAC-97D2-27F1A1F0AE3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E55F7E02-005F-D1B8-4D50-03C80D8B4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4F039516-55FE-4512-B10B-96F787045830}" type="datetimeFigureOut">
              <a:rPr lang="en-IN"/>
              <a:pPr>
                <a:defRPr/>
              </a:pPr>
              <a:t>26-09-2026</a:t>
            </a:fld>
            <a:endParaRPr lang="en-IN"/>
          </a:p>
        </p:txBody>
      </p:sp>
      <p:sp>
        <p:nvSpPr>
          <p:cNvPr id="5" name="Footer Placeholder 4">
            <a:extLst>
              <a:ext uri="{FF2B5EF4-FFF2-40B4-BE49-F238E27FC236}">
                <a16:creationId xmlns:a16="http://schemas.microsoft.com/office/drawing/2014/main" id="{A61B89EA-AA33-1E70-17DB-BDD37DAF06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DF1FC46B-67F7-19C7-E690-6A268B5CA4E1}"/>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64471AE9-5707-425A-894D-EEC5840BD7BF}"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7">
            <a:extLst>
              <a:ext uri="{FF2B5EF4-FFF2-40B4-BE49-F238E27FC236}">
                <a16:creationId xmlns:a16="http://schemas.microsoft.com/office/drawing/2014/main" id="{508B8D43-5ECB-3760-878D-EAC4A13D61CE}"/>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2054" name="Rectangle 8">
            <a:extLst>
              <a:ext uri="{FF2B5EF4-FFF2-40B4-BE49-F238E27FC236}">
                <a16:creationId xmlns:a16="http://schemas.microsoft.com/office/drawing/2014/main" id="{28ECA16A-3E61-B92B-9B56-868054CFD816}"/>
              </a:ext>
            </a:extLst>
          </p:cNvPr>
          <p:cNvSpPr>
            <a:spLocks noChangeArrowheads="1"/>
          </p:cNvSpPr>
          <p:nvPr/>
        </p:nvSpPr>
        <p:spPr bwMode="auto">
          <a:xfrm>
            <a:off x="214313" y="60325"/>
            <a:ext cx="11715750" cy="1323975"/>
          </a:xfrm>
          <a:prstGeom prst="rect">
            <a:avLst/>
          </a:prstGeom>
          <a:noFill/>
          <a:ln>
            <a:noFill/>
          </a:ln>
        </p:spPr>
        <p:txBody>
          <a:bodyPr anchor="ctr">
            <a:spAutoFit/>
          </a:bodyPr>
          <a:lstStyle>
            <a:lvl1pPr>
              <a:lnSpc>
                <a:spcPct val="90000"/>
              </a:lnSpc>
              <a:spcBef>
                <a:spcPts val="1000"/>
              </a:spcBef>
              <a:buFont typeface="Arial" panose="020B0604020202020204" pitchFamily="34" charset="0"/>
              <a:buChar char="•"/>
              <a:tabLst>
                <a:tab pos="1303338" algn="r"/>
                <a:tab pos="2865438" algn="ctr"/>
                <a:tab pos="5730875" algn="r"/>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1303338" algn="r"/>
                <a:tab pos="2865438" algn="ctr"/>
                <a:tab pos="5730875" algn="r"/>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1303338" algn="r"/>
                <a:tab pos="2865438" algn="ctr"/>
                <a:tab pos="5730875" algn="r"/>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9pPr>
          </a:lstStyle>
          <a:p>
            <a:pPr algn="ctr">
              <a:lnSpc>
                <a:spcPct val="100000"/>
              </a:lnSpc>
              <a:spcBef>
                <a:spcPct val="0"/>
              </a:spcBef>
              <a:buFontTx/>
              <a:buNone/>
              <a:defRPr/>
            </a:pPr>
            <a:r>
              <a:rPr lang="en-US" altLang="en-US"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G.H. RAISONI COLLEGE OF ENGINEERING </a:t>
            </a:r>
          </a:p>
          <a:p>
            <a:pPr algn="ctr">
              <a:lnSpc>
                <a:spcPct val="100000"/>
              </a:lnSpc>
              <a:spcBef>
                <a:spcPct val="0"/>
              </a:spcBef>
              <a:buFontTx/>
              <a:buNone/>
              <a:defRPr/>
            </a:pPr>
            <a:r>
              <a:rPr lang="en-US" altLang="en-US"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AND MANAGEMENT, WAGHOLI, PUNE</a:t>
            </a:r>
            <a:endParaRPr lang="en-US" altLang="en-US" sz="1400" dirty="0">
              <a:solidFill>
                <a:srgbClr val="7030A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ct val="0"/>
              </a:spcBef>
              <a:buFont typeface="Arial" panose="020B0604020202020204" pitchFamily="34" charset="0"/>
              <a:buNone/>
              <a:defRPr/>
            </a:pPr>
            <a:r>
              <a:rPr lang="en-US" altLang="en-US" sz="2400" b="1" dirty="0">
                <a:solidFill>
                  <a:schemeClr val="accent2">
                    <a:lumMod val="75000"/>
                  </a:schemeClr>
                </a:solidFill>
                <a:latin typeface="Times New Roman" panose="02020603050405020304" pitchFamily="18" charset="0"/>
                <a:ea typeface="Calibri" panose="020F0502020204030204" pitchFamily="34" charset="0"/>
                <a:cs typeface="Times New Roman" panose="02020603050405020304" pitchFamily="18" charset="0"/>
              </a:rPr>
              <a:t>Department of CSE (AIML)</a:t>
            </a:r>
            <a:endParaRPr lang="en-US" altLang="en-US" sz="2400" dirty="0">
              <a:solidFill>
                <a:schemeClr val="accent2">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52" name="Rectangle 5">
            <a:extLst>
              <a:ext uri="{FF2B5EF4-FFF2-40B4-BE49-F238E27FC236}">
                <a16:creationId xmlns:a16="http://schemas.microsoft.com/office/drawing/2014/main" id="{5E9E57BF-13A7-6171-73B8-2B4CD3CE887D}"/>
              </a:ext>
            </a:extLst>
          </p:cNvPr>
          <p:cNvSpPr txBox="1">
            <a:spLocks noChangeArrowheads="1"/>
          </p:cNvSpPr>
          <p:nvPr/>
        </p:nvSpPr>
        <p:spPr bwMode="auto">
          <a:xfrm>
            <a:off x="1981200" y="1519238"/>
            <a:ext cx="8229600"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2" panose="05020102010507070707" pitchFamily="18" charset="2"/>
              <a:buNone/>
            </a:pPr>
            <a:r>
              <a:rPr lang="en-US" altLang="en-US" sz="2400" b="1" i="1">
                <a:solidFill>
                  <a:srgbClr val="7030A0"/>
                </a:solidFill>
                <a:latin typeface="Arial Black" panose="020B0A04020102020204" pitchFamily="34" charset="0"/>
                <a:cs typeface="Aharoni" panose="02010803020104030203" pitchFamily="2" charset="-79"/>
              </a:rPr>
              <a:t>An Intelligent Aircraft Maintenance Prediction System Using Machine Learning and Real-Time Simulated Data</a:t>
            </a:r>
            <a:endParaRPr lang="en-US" altLang="en-US" sz="2400" b="1" i="1" u="sng">
              <a:solidFill>
                <a:srgbClr val="7030A0"/>
              </a:solidFill>
              <a:latin typeface="Castellar" panose="020A0402060406010301" pitchFamily="18" charset="0"/>
            </a:endParaRPr>
          </a:p>
        </p:txBody>
      </p:sp>
      <p:sp>
        <p:nvSpPr>
          <p:cNvPr id="4" name="TextBox 3">
            <a:extLst>
              <a:ext uri="{FF2B5EF4-FFF2-40B4-BE49-F238E27FC236}">
                <a16:creationId xmlns:a16="http://schemas.microsoft.com/office/drawing/2014/main" id="{01F88F21-9338-47AC-78AD-B921C8BEF5A5}"/>
              </a:ext>
            </a:extLst>
          </p:cNvPr>
          <p:cNvSpPr txBox="1"/>
          <p:nvPr/>
        </p:nvSpPr>
        <p:spPr>
          <a:xfrm>
            <a:off x="481013" y="2609850"/>
            <a:ext cx="11472862" cy="3887218"/>
          </a:xfrm>
          <a:prstGeom prst="rect">
            <a:avLst/>
          </a:prstGeom>
          <a:noFill/>
        </p:spPr>
        <p:txBody>
          <a:bodyPr>
            <a:spAutoFit/>
          </a:bodyPr>
          <a:lstStyle/>
          <a:p>
            <a:pPr marL="274320" indent="-274320" algn="ctr" eaLnBrk="1" fontAlgn="auto" hangingPunct="1">
              <a:spcBef>
                <a:spcPct val="20000"/>
              </a:spcBef>
              <a:spcAft>
                <a:spcPts val="0"/>
              </a:spcAft>
              <a:buClr>
                <a:schemeClr val="accent3"/>
              </a:buClr>
              <a:buSzPct val="95000"/>
              <a:defRPr/>
            </a:pPr>
            <a:r>
              <a:rPr lang="en-US" b="1" u="sng" dirty="0">
                <a:solidFill>
                  <a:srgbClr val="C00000"/>
                </a:solidFill>
                <a:latin typeface="Times New Roman" panose="02020603050405020304" pitchFamily="18" charset="0"/>
                <a:cs typeface="Times New Roman" panose="02020603050405020304" pitchFamily="18" charset="0"/>
              </a:rPr>
              <a:t>Group No.:</a:t>
            </a:r>
            <a:r>
              <a:rPr lang="en-US" b="1" dirty="0">
                <a:latin typeface="Times New Roman" panose="02020603050405020304" pitchFamily="18" charset="0"/>
                <a:cs typeface="Times New Roman" panose="02020603050405020304" pitchFamily="18" charset="0"/>
              </a:rPr>
              <a:t> </a:t>
            </a:r>
          </a:p>
          <a:p>
            <a:pPr marL="274320"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20                          </a:t>
            </a:r>
          </a:p>
          <a:p>
            <a:pPr marL="274320" indent="-274320" algn="ctr" eaLnBrk="1" fontAlgn="auto" hangingPunct="1">
              <a:spcBef>
                <a:spcPct val="20000"/>
              </a:spcBef>
              <a:spcAft>
                <a:spcPts val="0"/>
              </a:spcAft>
              <a:buClr>
                <a:schemeClr val="accent3"/>
              </a:buClr>
              <a:buSzPct val="95000"/>
              <a:defRPr/>
            </a:pPr>
            <a:endParaRPr lang="en-US" b="1" dirty="0">
              <a:latin typeface="Times New Roman" panose="02020603050405020304" pitchFamily="18" charset="0"/>
              <a:cs typeface="Times New Roman" panose="02020603050405020304" pitchFamily="18" charset="0"/>
            </a:endParaRPr>
          </a:p>
          <a:p>
            <a:pPr marL="1188720" lvl="2"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                  </a:t>
            </a:r>
            <a:r>
              <a:rPr lang="en-US" b="1" u="sng" dirty="0">
                <a:solidFill>
                  <a:srgbClr val="C00000"/>
                </a:solidFill>
                <a:latin typeface="Times New Roman" panose="02020603050405020304" pitchFamily="18" charset="0"/>
                <a:cs typeface="Times New Roman" panose="02020603050405020304" pitchFamily="18" charset="0"/>
              </a:rPr>
              <a:t>Guide:</a:t>
            </a:r>
            <a:r>
              <a:rPr lang="en-US" b="1" dirty="0">
                <a:latin typeface="Times New Roman" panose="02020603050405020304" pitchFamily="18" charset="0"/>
                <a:cs typeface="Times New Roman" panose="02020603050405020304" pitchFamily="18" charset="0"/>
              </a:rPr>
              <a:t>			</a:t>
            </a:r>
          </a:p>
          <a:p>
            <a:pPr marL="1188720" lvl="2" indent="-274320" algn="ctr" eaLnBrk="1" fontAlgn="auto" hangingPunct="1">
              <a:spcBef>
                <a:spcPct val="20000"/>
              </a:spcBef>
              <a:spcAft>
                <a:spcPts val="0"/>
              </a:spcAft>
              <a:buClr>
                <a:schemeClr val="accent3"/>
              </a:buClr>
              <a:buSzPct val="95000"/>
              <a:defRPr/>
            </a:pP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Prof. Soma Joshi</a:t>
            </a:r>
            <a:r>
              <a:rPr lang="en-US" b="1" i="1" dirty="0">
                <a:latin typeface="Times New Roman" panose="02020603050405020304" pitchFamily="18" charset="0"/>
                <a:cs typeface="Times New Roman" panose="02020603050405020304" pitchFamily="18" charset="0"/>
              </a:rPr>
              <a:t>		</a:t>
            </a:r>
          </a:p>
          <a:p>
            <a:pPr marL="274320" indent="-274320" algn="ctr" eaLnBrk="1" fontAlgn="auto" hangingPunct="1">
              <a:spcBef>
                <a:spcPct val="20000"/>
              </a:spcBef>
              <a:spcAft>
                <a:spcPts val="0"/>
              </a:spcAft>
              <a:buClr>
                <a:schemeClr val="accent3"/>
              </a:buClr>
              <a:buSzPct val="95000"/>
              <a:defRPr/>
            </a:pPr>
            <a:endParaRPr lang="en-US" b="1" i="1"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r>
              <a:rPr lang="en-US" b="1" u="sng" dirty="0">
                <a:solidFill>
                  <a:srgbClr val="C00000"/>
                </a:solidFill>
                <a:latin typeface="Times New Roman" panose="02020603050405020304" pitchFamily="18" charset="0"/>
                <a:cs typeface="Times New Roman" panose="02020603050405020304" pitchFamily="18" charset="0"/>
              </a:rPr>
              <a:t>Name of </a:t>
            </a:r>
            <a:r>
              <a:rPr lang="en-US" b="1" u="sng" dirty="0" err="1">
                <a:solidFill>
                  <a:srgbClr val="C00000"/>
                </a:solidFill>
                <a:latin typeface="Times New Roman" panose="02020603050405020304" pitchFamily="18" charset="0"/>
                <a:cs typeface="Times New Roman" panose="02020603050405020304" pitchFamily="18" charset="0"/>
              </a:rPr>
              <a:t>Projectees</a:t>
            </a:r>
            <a:endParaRPr lang="en-US" b="1" u="sng" dirty="0">
              <a:solidFill>
                <a:srgbClr val="C00000"/>
              </a:solidFill>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endParaRPr lang="en-US" b="1" u="sng" dirty="0">
              <a:latin typeface="Times New Roman" panose="02020603050405020304" pitchFamily="18" charset="0"/>
              <a:cs typeface="Times New Roman" panose="02020603050405020304" pitchFamily="18" charset="0"/>
            </a:endParaRPr>
          </a:p>
          <a:p>
            <a:pPr marL="274320" indent="-274320" algn="ctr" eaLnBrk="1" fontAlgn="auto" hangingPunct="1">
              <a:spcBef>
                <a:spcPct val="20000"/>
              </a:spcBef>
              <a:spcAft>
                <a:spcPts val="0"/>
              </a:spcAft>
              <a:buClr>
                <a:schemeClr val="accent3"/>
              </a:buClr>
              <a:buSzPct val="95000"/>
              <a:defRPr/>
            </a:pPr>
            <a:r>
              <a:rPr lang="en-US" b="1" i="1" dirty="0">
                <a:latin typeface="Times New Roman" panose="02020603050405020304" pitchFamily="18" charset="0"/>
                <a:cs typeface="Times New Roman" panose="02020603050405020304" pitchFamily="18" charset="0"/>
              </a:rPr>
              <a:t>              Soham Chaudhari(N42)                                                          Yug Shah(N60)</a:t>
            </a:r>
          </a:p>
          <a:p>
            <a:pPr marL="274320" indent="-274320" algn="ctr" eaLnBrk="1" fontAlgn="auto" hangingPunct="1">
              <a:spcBef>
                <a:spcPct val="20000"/>
              </a:spcBef>
              <a:spcAft>
                <a:spcPts val="0"/>
              </a:spcAft>
              <a:buClr>
                <a:schemeClr val="accent3"/>
              </a:buClr>
              <a:buSzPct val="95000"/>
              <a:defRPr/>
            </a:pPr>
            <a:r>
              <a:rPr lang="en-US" b="1" i="1" dirty="0">
                <a:latin typeface="Times New Roman" panose="02020603050405020304" pitchFamily="18" charset="0"/>
                <a:cs typeface="Times New Roman" panose="02020603050405020304" pitchFamily="18" charset="0"/>
              </a:rPr>
              <a:t>                               V Divakar(N50)                                                        Manjusha Mandhane(M49)</a:t>
            </a:r>
          </a:p>
          <a:p>
            <a:pPr marL="274320" indent="-274320" algn="ctr" eaLnBrk="1" fontAlgn="auto" hangingPunct="1">
              <a:spcBef>
                <a:spcPct val="20000"/>
              </a:spcBef>
              <a:spcAft>
                <a:spcPts val="0"/>
              </a:spcAft>
              <a:buClr>
                <a:schemeClr val="accent3"/>
              </a:buClr>
              <a:buSzPct val="95000"/>
              <a:defRPr/>
            </a:pPr>
            <a:endParaRPr lang="en-US" sz="1050" b="1" i="1"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b="1" dirty="0">
                <a:latin typeface="Times New Roman" pitchFamily="18" charset="0"/>
                <a:cs typeface="Times New Roman" pitchFamily="18" charset="0"/>
              </a:rPr>
              <a:t>     </a:t>
            </a:r>
            <a:endParaRPr lang="en-US" sz="105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47480CD8-16EA-0674-9110-2A727B63F9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313"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4">
            <a:extLst>
              <a:ext uri="{FF2B5EF4-FFF2-40B4-BE49-F238E27FC236}">
                <a16:creationId xmlns:a16="http://schemas.microsoft.com/office/drawing/2014/main" id="{117DDE81-582D-DE99-F130-7EB146F0BF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98125" y="-79375"/>
            <a:ext cx="16621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4">
            <a:extLst>
              <a:ext uri="{FF2B5EF4-FFF2-40B4-BE49-F238E27FC236}">
                <a16:creationId xmlns:a16="http://schemas.microsoft.com/office/drawing/2014/main" id="{C4796331-0B26-26F4-BAC0-A6B411037D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FAA5B61F-3D0F-CEF7-EC38-824DCF3AAC8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 name="Title 1">
            <a:extLst>
              <a:ext uri="{FF2B5EF4-FFF2-40B4-BE49-F238E27FC236}">
                <a16:creationId xmlns:a16="http://schemas.microsoft.com/office/drawing/2014/main" id="{07EC2C29-FD8C-5290-EF00-AF175415DBE2}"/>
              </a:ext>
            </a:extLst>
          </p:cNvPr>
          <p:cNvSpPr txBox="1">
            <a:spLocks/>
          </p:cNvSpPr>
          <p:nvPr/>
        </p:nvSpPr>
        <p:spPr bwMode="auto">
          <a:xfrm>
            <a:off x="428625" y="5343525"/>
            <a:ext cx="10445750" cy="639763"/>
          </a:xfrm>
          <a:prstGeom prst="rect">
            <a:avLst/>
          </a:prstGeom>
          <a:noFill/>
          <a:ln>
            <a:noFill/>
          </a:ln>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endParaRPr lang="en-US" sz="3200" b="1"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6A96FE67-BB71-9395-B731-F3FEAD5664C9}"/>
              </a:ext>
            </a:extLst>
          </p:cNvPr>
          <p:cNvSpPr txBox="1">
            <a:spLocks/>
          </p:cNvSpPr>
          <p:nvPr/>
        </p:nvSpPr>
        <p:spPr bwMode="auto">
          <a:xfrm>
            <a:off x="428625" y="1404938"/>
            <a:ext cx="10445750" cy="4121150"/>
          </a:xfrm>
          <a:prstGeom prst="rect">
            <a:avLst/>
          </a:prstGeom>
          <a:noFill/>
          <a:ln w="9525">
            <a:noFill/>
            <a:miter lim="800000"/>
            <a:headEnd/>
            <a:tailEnd/>
          </a:ln>
        </p:spPr>
        <p:txBody>
          <a:bodyPr>
            <a:norm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Introduction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Problem Statement</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Objectives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Literature Survey</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Existing System Architecture</a:t>
            </a:r>
          </a:p>
          <a:p>
            <a:pPr marL="274320" indent="-274320" algn="just" eaLnBrk="1" fontAlgn="auto" hangingPunct="1">
              <a:spcAft>
                <a:spcPts val="0"/>
              </a:spcAft>
              <a:buClr>
                <a:schemeClr val="accent3"/>
              </a:buClr>
              <a:buFont typeface="Wingdings 2"/>
              <a:buChar char=""/>
              <a:defRPr/>
            </a:pPr>
            <a:r>
              <a:rPr lang="en-IN" dirty="0">
                <a:latin typeface="Times New Roman" pitchFamily="18" charset="0"/>
                <a:cs typeface="Times New Roman" pitchFamily="18" charset="0"/>
              </a:rPr>
              <a:t>System architecture</a:t>
            </a:r>
            <a:r>
              <a:rPr lang="en-IN" dirty="0"/>
              <a:t>/</a:t>
            </a:r>
            <a:r>
              <a:rPr lang="en-US" dirty="0">
                <a:latin typeface="Times New Roman" pitchFamily="18" charset="0"/>
                <a:cs typeface="Times New Roman" pitchFamily="18" charset="0"/>
              </a:rPr>
              <a:t>Block Diagram</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Methodology and Tool Used</a:t>
            </a:r>
          </a:p>
          <a:p>
            <a:pPr marL="274320" indent="-274320" algn="just" eaLnBrk="1" fontAlgn="auto" hangingPunct="1">
              <a:spcAft>
                <a:spcPts val="0"/>
              </a:spcAft>
              <a:buClr>
                <a:schemeClr val="accent3"/>
              </a:buClr>
              <a:buFont typeface="Wingdings 2"/>
              <a:buChar char=""/>
              <a:defRPr/>
            </a:pPr>
            <a:r>
              <a:rPr lang="en-IN" dirty="0">
                <a:latin typeface="Times New Roman" pitchFamily="18" charset="0"/>
                <a:cs typeface="Times New Roman" pitchFamily="18" charset="0"/>
              </a:rPr>
              <a:t>Implementation &amp; Results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Work Plan &amp; Project Completion</a:t>
            </a:r>
          </a:p>
          <a:p>
            <a:pPr algn="just" eaLnBrk="1" fontAlgn="auto" hangingPunct="1">
              <a:spcAft>
                <a:spcPts val="0"/>
              </a:spcAft>
              <a:buClr>
                <a:schemeClr val="accent3"/>
              </a:buClr>
              <a:defRPr/>
            </a:pPr>
            <a:endParaRPr lang="en-US" dirty="0">
              <a:latin typeface="Times New Roman" pitchFamily="18" charset="0"/>
              <a:cs typeface="Times New Roman" pitchFamily="18" charset="0"/>
            </a:endParaRPr>
          </a:p>
        </p:txBody>
      </p:sp>
      <p:sp>
        <p:nvSpPr>
          <p:cNvPr id="12" name="Title 1">
            <a:extLst>
              <a:ext uri="{FF2B5EF4-FFF2-40B4-BE49-F238E27FC236}">
                <a16:creationId xmlns:a16="http://schemas.microsoft.com/office/drawing/2014/main" id="{7A2DD538-D670-8F4D-4D8E-DEC813BCAA2F}"/>
              </a:ext>
            </a:extLst>
          </p:cNvPr>
          <p:cNvSpPr txBox="1">
            <a:spLocks/>
          </p:cNvSpPr>
          <p:nvPr/>
        </p:nvSpPr>
        <p:spPr bwMode="auto">
          <a:xfrm>
            <a:off x="1831975" y="0"/>
            <a:ext cx="8697913" cy="639763"/>
          </a:xfrm>
          <a:prstGeom prst="rect">
            <a:avLst/>
          </a:prstGeom>
          <a:solidFill>
            <a:srgbClr val="7030A0">
              <a:alpha val="99000"/>
            </a:srgbClr>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Contents</a:t>
            </a:r>
          </a:p>
        </p:txBody>
      </p:sp>
      <p:pic>
        <p:nvPicPr>
          <p:cNvPr id="3078" name="Picture 2">
            <a:extLst>
              <a:ext uri="{FF2B5EF4-FFF2-40B4-BE49-F238E27FC236}">
                <a16:creationId xmlns:a16="http://schemas.microsoft.com/office/drawing/2014/main" id="{FB1C923F-BD40-EE05-7ADF-21F31C3FBD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838"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4">
            <a:extLst>
              <a:ext uri="{FF2B5EF4-FFF2-40B4-BE49-F238E27FC236}">
                <a16:creationId xmlns:a16="http://schemas.microsoft.com/office/drawing/2014/main" id="{5FF734CB-E8F4-D8C0-2ECF-FC746E3800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195263"/>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4">
            <a:extLst>
              <a:ext uri="{FF2B5EF4-FFF2-40B4-BE49-F238E27FC236}">
                <a16:creationId xmlns:a16="http://schemas.microsoft.com/office/drawing/2014/main" id="{62EA88B3-B3B3-B2FE-8EF3-55CD98CE52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5A8AE43E-55B9-8EC9-6573-61514A42E9BF}"/>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4" name="Title 1">
            <a:extLst>
              <a:ext uri="{FF2B5EF4-FFF2-40B4-BE49-F238E27FC236}">
                <a16:creationId xmlns:a16="http://schemas.microsoft.com/office/drawing/2014/main" id="{991D7E99-7EA8-671F-66D8-601B13016CB4}"/>
              </a:ext>
            </a:extLst>
          </p:cNvPr>
          <p:cNvSpPr txBox="1">
            <a:spLocks/>
          </p:cNvSpPr>
          <p:nvPr/>
        </p:nvSpPr>
        <p:spPr bwMode="auto">
          <a:xfrm>
            <a:off x="1912938" y="0"/>
            <a:ext cx="85105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Introduction</a:t>
            </a:r>
          </a:p>
        </p:txBody>
      </p:sp>
      <p:pic>
        <p:nvPicPr>
          <p:cNvPr id="4100" name="Picture 2">
            <a:extLst>
              <a:ext uri="{FF2B5EF4-FFF2-40B4-BE49-F238E27FC236}">
                <a16:creationId xmlns:a16="http://schemas.microsoft.com/office/drawing/2014/main" id="{7EC35783-DCA3-1E6E-20FC-90EDDEA4CC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138"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4">
            <a:extLst>
              <a:ext uri="{FF2B5EF4-FFF2-40B4-BE49-F238E27FC236}">
                <a16:creationId xmlns:a16="http://schemas.microsoft.com/office/drawing/2014/main" id="{5F39C816-32A4-643C-D534-146292C24D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4">
            <a:extLst>
              <a:ext uri="{FF2B5EF4-FFF2-40B4-BE49-F238E27FC236}">
                <a16:creationId xmlns:a16="http://schemas.microsoft.com/office/drawing/2014/main" id="{E932AE5A-F890-7D79-29BA-71A02022A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012035D6-7DF7-5CD5-3FFB-C6B29CA52A38}"/>
              </a:ext>
            </a:extLst>
          </p:cNvPr>
          <p:cNvSpPr/>
          <p:nvPr/>
        </p:nvSpPr>
        <p:spPr>
          <a:xfrm>
            <a:off x="1841500" y="1328738"/>
            <a:ext cx="8509000" cy="420052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pc="-1" dirty="0">
                <a:solidFill>
                  <a:srgbClr val="000000"/>
                </a:solidFill>
                <a:latin typeface="Times New Roman"/>
                <a:ea typeface="Times New Roman"/>
              </a:rPr>
              <a:t>Aircraft maintenance is one of the most critical aspects of aviation safety, where unexpected component failures can lead to increased operational costs, flight delays, and safety risks. Traditional maintenance methods are either scheduled at fixed intervals or performed after a fault occurs, which may result in unnecessary maintenance or unexpected failures. This project developed an AI-based Aircraft Predictive Maintenance and Decision Support System that predicts the Remaining Useful Life (RUL), State of Health (SOH), and fault or abnormal conditions of five aircraft subsystems. Each prediction is converted into a maintenance recommendation and priority level and shown on a monitoring dashboard driven by simulated real-time data, supporting proactive maintenance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AEECA00-6C4E-DD44-2A6E-8FE1BEF5E5A6}"/>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BD76E09A-845B-B6A4-988B-893E4F63130C}"/>
              </a:ext>
            </a:extLst>
          </p:cNvPr>
          <p:cNvSpPr txBox="1">
            <a:spLocks/>
          </p:cNvSpPr>
          <p:nvPr/>
        </p:nvSpPr>
        <p:spPr bwMode="auto">
          <a:xfrm>
            <a:off x="1955800" y="0"/>
            <a:ext cx="8467725"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Problem Statement</a:t>
            </a:r>
          </a:p>
        </p:txBody>
      </p:sp>
      <p:pic>
        <p:nvPicPr>
          <p:cNvPr id="5124" name="Picture 2">
            <a:extLst>
              <a:ext uri="{FF2B5EF4-FFF2-40B4-BE49-F238E27FC236}">
                <a16:creationId xmlns:a16="http://schemas.microsoft.com/office/drawing/2014/main" id="{FC2DA691-76C2-8C32-4326-964A2D241F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63500"/>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4">
            <a:extLst>
              <a:ext uri="{FF2B5EF4-FFF2-40B4-BE49-F238E27FC236}">
                <a16:creationId xmlns:a16="http://schemas.microsoft.com/office/drawing/2014/main" id="{88BD30CF-9E58-6A14-7DC6-D60BC53CE8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0320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4">
            <a:extLst>
              <a:ext uri="{FF2B5EF4-FFF2-40B4-BE49-F238E27FC236}">
                <a16:creationId xmlns:a16="http://schemas.microsoft.com/office/drawing/2014/main" id="{F3D80BA8-D765-DD67-1ED3-8CDBD597D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7">
            <a:extLst>
              <a:ext uri="{FF2B5EF4-FFF2-40B4-BE49-F238E27FC236}">
                <a16:creationId xmlns:a16="http://schemas.microsoft.com/office/drawing/2014/main" id="{FB2D7110-19C0-8D52-15BC-951F11080D86}"/>
              </a:ext>
            </a:extLst>
          </p:cNvPr>
          <p:cNvSpPr/>
          <p:nvPr/>
        </p:nvSpPr>
        <p:spPr>
          <a:xfrm>
            <a:off x="1808163" y="2160588"/>
            <a:ext cx="8575675" cy="253682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pc="-1" dirty="0">
                <a:solidFill>
                  <a:srgbClr val="000000"/>
                </a:solidFill>
                <a:latin typeface="Times New Roman"/>
                <a:ea typeface="Times New Roman"/>
              </a:rPr>
              <a:t>Current aircraft predictive maintenance systems mainly focus on predicting component failures or Remaining Useful Life (RUL) but provide limited support for maintenance planning and decision-making. This can lead to inefficient maintenance scheduling, increased operational costs, and unexpected downtime. Therefore, an intelligent decision support system is needed to assist engineers with maintenance prioritization, recommendations, and real-time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674BC97-37C1-9195-E818-0C5DDC7FEA80}"/>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5D0527EE-A7E2-3D53-201C-30D52A364EBA}"/>
              </a:ext>
            </a:extLst>
          </p:cNvPr>
          <p:cNvSpPr txBox="1">
            <a:spLocks/>
          </p:cNvSpPr>
          <p:nvPr/>
        </p:nvSpPr>
        <p:spPr bwMode="auto">
          <a:xfrm>
            <a:off x="1955800" y="0"/>
            <a:ext cx="8467725"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Objectives</a:t>
            </a:r>
          </a:p>
        </p:txBody>
      </p:sp>
      <p:pic>
        <p:nvPicPr>
          <p:cNvPr id="6148" name="Picture 2">
            <a:extLst>
              <a:ext uri="{FF2B5EF4-FFF2-40B4-BE49-F238E27FC236}">
                <a16:creationId xmlns:a16="http://schemas.microsoft.com/office/drawing/2014/main" id="{86B0B7BE-758F-8D5A-A148-3C5B3992EF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63500"/>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a:extLst>
              <a:ext uri="{FF2B5EF4-FFF2-40B4-BE49-F238E27FC236}">
                <a16:creationId xmlns:a16="http://schemas.microsoft.com/office/drawing/2014/main" id="{4D50A148-CA45-3B7B-AE49-91170D56CF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0320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4">
            <a:extLst>
              <a:ext uri="{FF2B5EF4-FFF2-40B4-BE49-F238E27FC236}">
                <a16:creationId xmlns:a16="http://schemas.microsoft.com/office/drawing/2014/main" id="{22B17657-7AD4-151A-CC6C-F94EEBC361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7">
            <a:extLst>
              <a:ext uri="{FF2B5EF4-FFF2-40B4-BE49-F238E27FC236}">
                <a16:creationId xmlns:a16="http://schemas.microsoft.com/office/drawing/2014/main" id="{878D21CD-3158-F716-39AF-10F87528E065}"/>
              </a:ext>
            </a:extLst>
          </p:cNvPr>
          <p:cNvSpPr/>
          <p:nvPr/>
        </p:nvSpPr>
        <p:spPr>
          <a:xfrm>
            <a:off x="1855787" y="1883127"/>
            <a:ext cx="8667750" cy="3091745"/>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develop a machine learning-based predictive maintenance system for five major aircraft subsystems.</a:t>
            </a:r>
          </a:p>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use subsystem-specific sensor data to predict RUL, SOH, and abnormal/fault conditions.</a:t>
            </a:r>
          </a:p>
          <a:p>
            <a:pPr marL="342900" indent="-342900" algn="just">
              <a:lnSpc>
                <a:spcPct val="10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integrate Engine, Battery, Hydraulic, Fuel, and Landing Gear into a unified system with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and a React dashboard.</a:t>
            </a:r>
          </a:p>
          <a:p>
            <a:pPr marL="342900" indent="-342900" algn="just">
              <a:lnSpc>
                <a:spcPct val="150000"/>
              </a:lnSpc>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cs typeface="Times New Roman" panose="02020603050405020304" pitchFamily="18" charset="0"/>
              </a:rPr>
              <a:t>To convert model predictions into maintenance recommendations and priority levels using simulated real-time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E5285E9-3257-A1E0-724E-56B832B3B67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graphicFrame>
        <p:nvGraphicFramePr>
          <p:cNvPr id="2" name="Table 1">
            <a:extLst>
              <a:ext uri="{FF2B5EF4-FFF2-40B4-BE49-F238E27FC236}">
                <a16:creationId xmlns:a16="http://schemas.microsoft.com/office/drawing/2014/main" id="{03524152-CF88-CA47-6281-8BFB469ECDDB}"/>
              </a:ext>
            </a:extLst>
          </p:cNvPr>
          <p:cNvGraphicFramePr>
            <a:graphicFrameLocks noGrp="1"/>
          </p:cNvGraphicFramePr>
          <p:nvPr>
            <p:extLst>
              <p:ext uri="{D42A27DB-BD31-4B8C-83A1-F6EECF244321}">
                <p14:modId xmlns:p14="http://schemas.microsoft.com/office/powerpoint/2010/main" val="1933126294"/>
              </p:ext>
            </p:extLst>
          </p:nvPr>
        </p:nvGraphicFramePr>
        <p:xfrm>
          <a:off x="0" y="1645896"/>
          <a:ext cx="12192000" cy="3566208"/>
        </p:xfrm>
        <a:graphic>
          <a:graphicData uri="http://schemas.openxmlformats.org/drawingml/2006/table">
            <a:tbl>
              <a:tblPr firstRow="1" bandRow="1">
                <a:tableStyleId>{21E4AEA4-8DFA-4A89-87EB-49C32662AFE0}</a:tableStyleId>
              </a:tblPr>
              <a:tblGrid>
                <a:gridCol w="700000">
                  <a:extLst>
                    <a:ext uri="{9D8B030D-6E8A-4147-A177-3AD203B41FA5}">
                      <a16:colId xmlns:a16="http://schemas.microsoft.com/office/drawing/2014/main" val="20000"/>
                    </a:ext>
                  </a:extLst>
                </a:gridCol>
                <a:gridCol w="4200000">
                  <a:extLst>
                    <a:ext uri="{9D8B030D-6E8A-4147-A177-3AD203B41FA5}">
                      <a16:colId xmlns:a16="http://schemas.microsoft.com/office/drawing/2014/main" val="20001"/>
                    </a:ext>
                  </a:extLst>
                </a:gridCol>
                <a:gridCol w="2200000">
                  <a:extLst>
                    <a:ext uri="{9D8B030D-6E8A-4147-A177-3AD203B41FA5}">
                      <a16:colId xmlns:a16="http://schemas.microsoft.com/office/drawing/2014/main" val="20002"/>
                    </a:ext>
                  </a:extLst>
                </a:gridCol>
                <a:gridCol w="5092000">
                  <a:extLst>
                    <a:ext uri="{9D8B030D-6E8A-4147-A177-3AD203B41FA5}">
                      <a16:colId xmlns:a16="http://schemas.microsoft.com/office/drawing/2014/main" val="20003"/>
                    </a:ext>
                  </a:extLst>
                </a:gridCol>
              </a:tblGrid>
              <a:tr h="450553">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Paper</a:t>
                      </a:r>
                      <a:r>
                        <a:rPr lang="en-US" sz="1800" baseline="0" dirty="0">
                          <a:solidFill>
                            <a:schemeClr val="bg1"/>
                          </a:solidFill>
                          <a:latin typeface="Times New Roman" panose="02020603050405020304" pitchFamily="18" charset="0"/>
                          <a:cs typeface="Times New Roman" panose="02020603050405020304" pitchFamily="18" charset="0"/>
                        </a:rPr>
                        <a:t> Title and Year</a:t>
                      </a:r>
                      <a:endParaRPr lang="en-US" sz="1800" dirty="0">
                        <a:solidFill>
                          <a:schemeClr val="bg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1029822">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Maintainability Improvement in Ageing Aircraft: A Critical Review of Evolving Strategies (2025)</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Systems Engineering, Wiley (ISSN 1520-6858)</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review of aircraft predictive-maintenance research found that most studies focus on aircraft engines because data for other aircraft systems is limited. It highlights the need for AI, IoT, and digital twins to improve maintenance automation and efficiency.</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1222911">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Interpretable Ensemble Remaining Useful Life Prediction Enables Dynamic Maintenance Scheduling for Aircraft Engines (2025)</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Scientific Reports, Nature</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An ensemble model using </a:t>
                      </a:r>
                      <a:r>
                        <a:rPr lang="en-US" sz="1800" kern="1200" dirty="0" err="1">
                          <a:solidFill>
                            <a:schemeClr val="tx1"/>
                          </a:solidFill>
                          <a:latin typeface="Times New Roman" panose="02020603050405020304" pitchFamily="18" charset="0"/>
                          <a:ea typeface="+mn-ea"/>
                          <a:cs typeface="Times New Roman" panose="02020603050405020304" pitchFamily="18" charset="0"/>
                        </a:rPr>
                        <a:t>LightGBM</a:t>
                      </a:r>
                      <a:r>
                        <a:rPr lang="en-US" sz="1800" kern="1200" dirty="0">
                          <a:solidFill>
                            <a:schemeClr val="tx1"/>
                          </a:solidFill>
                          <a:latin typeface="Times New Roman" panose="02020603050405020304" pitchFamily="18" charset="0"/>
                          <a:ea typeface="+mn-ea"/>
                          <a:cs typeface="Times New Roman" panose="02020603050405020304" pitchFamily="18" charset="0"/>
                        </a:rPr>
                        <a:t>, </a:t>
                      </a:r>
                      <a:r>
                        <a:rPr lang="en-US" sz="1800" kern="1200" dirty="0" err="1">
                          <a:solidFill>
                            <a:schemeClr val="tx1"/>
                          </a:solidFill>
                          <a:latin typeface="Times New Roman" panose="02020603050405020304" pitchFamily="18" charset="0"/>
                          <a:ea typeface="+mn-ea"/>
                          <a:cs typeface="Times New Roman" panose="02020603050405020304" pitchFamily="18" charset="0"/>
                        </a:rPr>
                        <a:t>CatBoost</a:t>
                      </a:r>
                      <a:r>
                        <a:rPr lang="en-US" sz="1800" kern="1200" dirty="0">
                          <a:solidFill>
                            <a:schemeClr val="tx1"/>
                          </a:solidFill>
                          <a:latin typeface="Times New Roman" panose="02020603050405020304" pitchFamily="18" charset="0"/>
                          <a:ea typeface="+mn-ea"/>
                          <a:cs typeface="Times New Roman" panose="02020603050405020304" pitchFamily="18" charset="0"/>
                        </a:rPr>
                        <a:t>, and Gradient Boosting accurately predicts Remaining Useful Life (RUL). It outperforms several recent methods while using SHAP to provide explainable maintenance decisions.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bl>
          </a:graphicData>
        </a:graphic>
      </p:graphicFrame>
      <p:sp>
        <p:nvSpPr>
          <p:cNvPr id="14" name="Title 1">
            <a:extLst>
              <a:ext uri="{FF2B5EF4-FFF2-40B4-BE49-F238E27FC236}">
                <a16:creationId xmlns:a16="http://schemas.microsoft.com/office/drawing/2014/main" id="{17BC5FA1-07E2-A6D9-0C20-AA7EDF1D4163}"/>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Literature Survey</a:t>
            </a:r>
          </a:p>
        </p:txBody>
      </p:sp>
      <p:pic>
        <p:nvPicPr>
          <p:cNvPr id="7214" name="Picture 2">
            <a:extLst>
              <a:ext uri="{FF2B5EF4-FFF2-40B4-BE49-F238E27FC236}">
                <a16:creationId xmlns:a16="http://schemas.microsoft.com/office/drawing/2014/main" id="{D29ADADE-1B3C-379A-5479-EB526FFDD1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13"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5" name="Picture 4">
            <a:extLst>
              <a:ext uri="{FF2B5EF4-FFF2-40B4-BE49-F238E27FC236}">
                <a16:creationId xmlns:a16="http://schemas.microsoft.com/office/drawing/2014/main" id="{34A14A9B-E59B-21E9-111A-F4437BE0F7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6" name="Picture 4">
            <a:extLst>
              <a:ext uri="{FF2B5EF4-FFF2-40B4-BE49-F238E27FC236}">
                <a16:creationId xmlns:a16="http://schemas.microsoft.com/office/drawing/2014/main" id="{25D00CEE-6B1A-8919-FB54-D7F8F8F94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F15C-8D2C-81E3-FE23-F4B03383F7AF}"/>
            </a:ext>
          </a:extLst>
        </p:cNvPr>
        <p:cNvGrpSpPr/>
        <p:nvPr/>
      </p:nvGrpSpPr>
      <p:grpSpPr>
        <a:xfrm>
          <a:off x="0" y="0"/>
          <a:ext cx="0" cy="0"/>
          <a:chOff x="0" y="0"/>
          <a:chExt cx="0" cy="0"/>
        </a:xfrm>
      </p:grpSpPr>
      <p:sp>
        <p:nvSpPr>
          <p:cNvPr id="7170" name="Rectangle 7">
            <a:extLst>
              <a:ext uri="{FF2B5EF4-FFF2-40B4-BE49-F238E27FC236}">
                <a16:creationId xmlns:a16="http://schemas.microsoft.com/office/drawing/2014/main" id="{28E68B56-E6B4-F890-866C-9F16559189B9}"/>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graphicFrame>
        <p:nvGraphicFramePr>
          <p:cNvPr id="2" name="Table 1">
            <a:extLst>
              <a:ext uri="{FF2B5EF4-FFF2-40B4-BE49-F238E27FC236}">
                <a16:creationId xmlns:a16="http://schemas.microsoft.com/office/drawing/2014/main" id="{C7C87F73-DF23-E587-57B3-1E8DF27DD787}"/>
              </a:ext>
            </a:extLst>
          </p:cNvPr>
          <p:cNvGraphicFramePr>
            <a:graphicFrameLocks noGrp="1"/>
          </p:cNvGraphicFramePr>
          <p:nvPr>
            <p:extLst>
              <p:ext uri="{D42A27DB-BD31-4B8C-83A1-F6EECF244321}">
                <p14:modId xmlns:p14="http://schemas.microsoft.com/office/powerpoint/2010/main" val="370724229"/>
              </p:ext>
            </p:extLst>
          </p:nvPr>
        </p:nvGraphicFramePr>
        <p:xfrm>
          <a:off x="0" y="1513245"/>
          <a:ext cx="12192000" cy="3840528"/>
        </p:xfrm>
        <a:graphic>
          <a:graphicData uri="http://schemas.openxmlformats.org/drawingml/2006/table">
            <a:tbl>
              <a:tblPr firstRow="1" bandRow="1">
                <a:tableStyleId>{21E4AEA4-8DFA-4A89-87EB-49C32662AFE0}</a:tableStyleId>
              </a:tblPr>
              <a:tblGrid>
                <a:gridCol w="700000">
                  <a:extLst>
                    <a:ext uri="{9D8B030D-6E8A-4147-A177-3AD203B41FA5}">
                      <a16:colId xmlns:a16="http://schemas.microsoft.com/office/drawing/2014/main" val="20000"/>
                    </a:ext>
                  </a:extLst>
                </a:gridCol>
                <a:gridCol w="4200000">
                  <a:extLst>
                    <a:ext uri="{9D8B030D-6E8A-4147-A177-3AD203B41FA5}">
                      <a16:colId xmlns:a16="http://schemas.microsoft.com/office/drawing/2014/main" val="20001"/>
                    </a:ext>
                  </a:extLst>
                </a:gridCol>
                <a:gridCol w="2200000">
                  <a:extLst>
                    <a:ext uri="{9D8B030D-6E8A-4147-A177-3AD203B41FA5}">
                      <a16:colId xmlns:a16="http://schemas.microsoft.com/office/drawing/2014/main" val="20002"/>
                    </a:ext>
                  </a:extLst>
                </a:gridCol>
                <a:gridCol w="5092000">
                  <a:extLst>
                    <a:ext uri="{9D8B030D-6E8A-4147-A177-3AD203B41FA5}">
                      <a16:colId xmlns:a16="http://schemas.microsoft.com/office/drawing/2014/main" val="20003"/>
                    </a:ext>
                  </a:extLst>
                </a:gridCol>
              </a:tblGrid>
              <a:tr h="500000">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Paper</a:t>
                      </a:r>
                      <a:r>
                        <a:rPr lang="en-US" sz="1800" baseline="0" dirty="0">
                          <a:solidFill>
                            <a:schemeClr val="bg1"/>
                          </a:solidFill>
                          <a:latin typeface="Times New Roman" panose="02020603050405020304" pitchFamily="18" charset="0"/>
                          <a:cs typeface="Times New Roman" panose="02020603050405020304" pitchFamily="18" charset="0"/>
                        </a:rPr>
                        <a:t> Title and Year</a:t>
                      </a:r>
                      <a:endParaRPr lang="en-US" sz="1800" dirty="0">
                        <a:solidFill>
                          <a:schemeClr val="bg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en-US" sz="1800" dirty="0">
                          <a:solidFill>
                            <a:schemeClr val="bg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920377">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Digitalization in Aircraft Maintenance Processes (2023)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Aviation (Vilnius Tech), Vol. 27, Issue 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survey of MRO professionals found that the aviation industry is not fully ready for digital transformation. The main barriers are high costs, limited training, and technology reliability, while younger engineers show greater trust in automation than older engineers.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950000">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4</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Predictive Maintenance Analytics and Implementation for Aircraft: Challenges and Opportunities (2023)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Systems Engineering, Wiley (ISSN 1520-6858)</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A review of aircraft predictive maintenance found that most research focuses on aircraft engines due to limited public data for other systems. It recommends greater use of AI, IoT, and digital twins to improve maintenance efficiency.</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bl>
          </a:graphicData>
        </a:graphic>
      </p:graphicFrame>
      <p:sp>
        <p:nvSpPr>
          <p:cNvPr id="14" name="Title 1">
            <a:extLst>
              <a:ext uri="{FF2B5EF4-FFF2-40B4-BE49-F238E27FC236}">
                <a16:creationId xmlns:a16="http://schemas.microsoft.com/office/drawing/2014/main" id="{B3B1941F-7666-12DB-D194-EDD8EFC7D65A}"/>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Literature Survey</a:t>
            </a:r>
          </a:p>
        </p:txBody>
      </p:sp>
      <p:pic>
        <p:nvPicPr>
          <p:cNvPr id="7214" name="Picture 2">
            <a:extLst>
              <a:ext uri="{FF2B5EF4-FFF2-40B4-BE49-F238E27FC236}">
                <a16:creationId xmlns:a16="http://schemas.microsoft.com/office/drawing/2014/main" id="{7500AF72-A118-5BB8-79C4-F6734A7722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13"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5" name="Picture 4">
            <a:extLst>
              <a:ext uri="{FF2B5EF4-FFF2-40B4-BE49-F238E27FC236}">
                <a16:creationId xmlns:a16="http://schemas.microsoft.com/office/drawing/2014/main" id="{90B759D6-F89C-A708-CB1A-D904F30FF5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6" name="Picture 4">
            <a:extLst>
              <a:ext uri="{FF2B5EF4-FFF2-40B4-BE49-F238E27FC236}">
                <a16:creationId xmlns:a16="http://schemas.microsoft.com/office/drawing/2014/main" id="{4CBB5F08-9C9E-B03F-8756-93728E339C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39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C06FC6F-B9F3-7F76-C133-89C6E7806774}"/>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195" name="TextBox 7">
            <a:extLst>
              <a:ext uri="{FF2B5EF4-FFF2-40B4-BE49-F238E27FC236}">
                <a16:creationId xmlns:a16="http://schemas.microsoft.com/office/drawing/2014/main" id="{88613965-7BEA-AAF0-4315-865CA0CFF439}"/>
              </a:ext>
            </a:extLst>
          </p:cNvPr>
          <p:cNvSpPr txBox="1">
            <a:spLocks noChangeArrowheads="1"/>
          </p:cNvSpPr>
          <p:nvPr/>
        </p:nvSpPr>
        <p:spPr bwMode="auto">
          <a:xfrm>
            <a:off x="1762125" y="1431812"/>
            <a:ext cx="8667750" cy="399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Most existing predictive maintenance approaches focus on individual aircraft components or a single subsystem, limiting their ability to provide a broader aircraft maintenance view.</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Many systems mainly provide fault detection or RUL prediction but do not translate these predictions into clear maintenance recommendations and priority levels.</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Existing approaches often depend on offline historical datasets, with limited support for simulated real-time monitoring and continuous prediction.</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Different aircraft subsystems may require different datasets, features, and ML models, making it difficult to integrate them into one unified framework.</a:t>
            </a:r>
          </a:p>
          <a:p>
            <a:pPr marL="342900" indent="-342900" algn="l">
              <a:lnSpc>
                <a:spcPct val="120000"/>
              </a:lnSpc>
              <a:spcBef>
                <a:spcPts val="350"/>
              </a:spcBef>
              <a:buFont typeface="+mj-lt"/>
              <a:buAutoNum type="arabicPeriod"/>
            </a:pPr>
            <a:r>
              <a:rPr lang="en-US" sz="1800" dirty="0">
                <a:latin typeface="Times New Roman" panose="02020603050405020304" pitchFamily="18" charset="0"/>
                <a:cs typeface="Times New Roman" panose="02020603050405020304" pitchFamily="18" charset="0"/>
              </a:rPr>
              <a:t>Many research models are evaluated on specific laboratory, simulated, or benchmark datasets, making direct generalization to real aircraft fleet conditions difficult.</a:t>
            </a:r>
          </a:p>
        </p:txBody>
      </p:sp>
      <p:sp>
        <p:nvSpPr>
          <p:cNvPr id="13" name="Title 1">
            <a:extLst>
              <a:ext uri="{FF2B5EF4-FFF2-40B4-BE49-F238E27FC236}">
                <a16:creationId xmlns:a16="http://schemas.microsoft.com/office/drawing/2014/main" id="{FF3EF231-BD0D-B5E2-FDA9-208EDB081F1F}"/>
              </a:ext>
            </a:extLst>
          </p:cNvPr>
          <p:cNvSpPr txBox="1">
            <a:spLocks/>
          </p:cNvSpPr>
          <p:nvPr/>
        </p:nvSpPr>
        <p:spPr bwMode="auto">
          <a:xfrm>
            <a:off x="1927225" y="0"/>
            <a:ext cx="8602663"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Existing System Architecture</a:t>
            </a:r>
          </a:p>
        </p:txBody>
      </p:sp>
      <p:pic>
        <p:nvPicPr>
          <p:cNvPr id="8197" name="Picture 2">
            <a:extLst>
              <a:ext uri="{FF2B5EF4-FFF2-40B4-BE49-F238E27FC236}">
                <a16:creationId xmlns:a16="http://schemas.microsoft.com/office/drawing/2014/main" id="{4775EE44-4602-5976-8890-790F761F5A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275" y="20638"/>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4">
            <a:extLst>
              <a:ext uri="{FF2B5EF4-FFF2-40B4-BE49-F238E27FC236}">
                <a16:creationId xmlns:a16="http://schemas.microsoft.com/office/drawing/2014/main" id="{0EC5D126-A383-CF69-2CAD-812DE26887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679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4">
            <a:extLst>
              <a:ext uri="{FF2B5EF4-FFF2-40B4-BE49-F238E27FC236}">
                <a16:creationId xmlns:a16="http://schemas.microsoft.com/office/drawing/2014/main" id="{B652A691-80E1-B8A2-E2F3-FD2127C65F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DD67A06-82C4-70BB-98EC-D31B068EC81E}"/>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9219" name="Title 1">
            <a:extLst>
              <a:ext uri="{FF2B5EF4-FFF2-40B4-BE49-F238E27FC236}">
                <a16:creationId xmlns:a16="http://schemas.microsoft.com/office/drawing/2014/main" id="{B7EF177C-DBAE-C6E1-6DC6-9734C03F1010}"/>
              </a:ext>
            </a:extLst>
          </p:cNvPr>
          <p:cNvSpPr txBox="1">
            <a:spLocks/>
          </p:cNvSpPr>
          <p:nvPr/>
        </p:nvSpPr>
        <p:spPr bwMode="auto">
          <a:xfrm>
            <a:off x="2476500" y="40989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535E8792-0BCB-94BE-4A2D-063715ACAFAE}"/>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System architecture/Block Diagram</a:t>
            </a:r>
          </a:p>
        </p:txBody>
      </p:sp>
      <p:pic>
        <p:nvPicPr>
          <p:cNvPr id="9221" name="Picture 2">
            <a:extLst>
              <a:ext uri="{FF2B5EF4-FFF2-40B4-BE49-F238E27FC236}">
                <a16:creationId xmlns:a16="http://schemas.microsoft.com/office/drawing/2014/main" id="{45DCBCE7-2E2D-43A9-9A40-60232CEDB8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4">
            <a:extLst>
              <a:ext uri="{FF2B5EF4-FFF2-40B4-BE49-F238E27FC236}">
                <a16:creationId xmlns:a16="http://schemas.microsoft.com/office/drawing/2014/main" id="{12F68D7A-14CE-DB27-9DEB-08C22EFC27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9223" descr="image4.png"/>
          <p:cNvPicPr>
            <a:picLocks noChangeAspect="1"/>
          </p:cNvPicPr>
          <p:nvPr/>
        </p:nvPicPr>
        <p:blipFill>
          <a:blip r:embed="rId4"/>
          <a:stretch>
            <a:fillRect/>
          </a:stretch>
        </p:blipFill>
        <p:spPr>
          <a:xfrm>
            <a:off x="1022205" y="1143334"/>
            <a:ext cx="10147590" cy="4816141"/>
          </a:xfrm>
          <a:prstGeom prst="rect">
            <a:avLst/>
          </a:prstGeom>
        </p:spPr>
      </p:pic>
      <p:pic>
        <p:nvPicPr>
          <p:cNvPr id="3" name="Picture 4">
            <a:extLst>
              <a:ext uri="{FF2B5EF4-FFF2-40B4-BE49-F238E27FC236}">
                <a16:creationId xmlns:a16="http://schemas.microsoft.com/office/drawing/2014/main" id="{289B7245-2919-DDE4-F4DD-408B17CD37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2">
            <a:extLst>
              <a:ext uri="{FF2B5EF4-FFF2-40B4-BE49-F238E27FC236}">
                <a16:creationId xmlns:a16="http://schemas.microsoft.com/office/drawing/2014/main" id="{FEF63F63-D069-2FA4-47C3-EE4B866F67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7">
            <a:extLst>
              <a:ext uri="{FF2B5EF4-FFF2-40B4-BE49-F238E27FC236}">
                <a16:creationId xmlns:a16="http://schemas.microsoft.com/office/drawing/2014/main" id="{3B30BF07-E536-B4B6-F793-2041CF38C7AB}"/>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0243" name="Title 1">
            <a:extLst>
              <a:ext uri="{FF2B5EF4-FFF2-40B4-BE49-F238E27FC236}">
                <a16:creationId xmlns:a16="http://schemas.microsoft.com/office/drawing/2014/main" id="{582E9A4F-A98B-9F11-8D5B-8A8A422D95B6}"/>
              </a:ext>
            </a:extLst>
          </p:cNvPr>
          <p:cNvSpPr txBox="1">
            <a:spLocks/>
          </p:cNvSpPr>
          <p:nvPr/>
        </p:nvSpPr>
        <p:spPr bwMode="auto">
          <a:xfrm>
            <a:off x="1396000" y="1416051"/>
            <a:ext cx="9400000" cy="41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Data Collection – Collect and organize data for Engine, Battery, Hydraulic, Fuel, and Landing Gear systems.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Data Preprocessing – Validate, clean, transform, and prepare the subsystem data for modelling.</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Feature Engineering – Extract relevant sensor-based features to capture degradation and abnormal conditions.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Model Training &amp; Evaluation – Train and compare suitable ML models for RUL, SOH, and condition prediction.</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Prediction &amp; Maintenance Decision – Generate predictions and convert them into maintenance recommendations and priority levels.</a:t>
            </a:r>
          </a:p>
          <a:p>
            <a:pPr marL="342900" indent="-342900" algn="l">
              <a:lnSpc>
                <a:spcPct val="115000"/>
              </a:lnSpc>
              <a:buFont typeface="+mj-lt"/>
              <a:buAutoNum type="arabicPeriod"/>
            </a:pPr>
            <a:r>
              <a:rPr lang="en-US" sz="1800" dirty="0">
                <a:latin typeface="Times New Roman" panose="02020603050405020304" pitchFamily="18" charset="0"/>
                <a:cs typeface="Times New Roman" panose="02020603050405020304" pitchFamily="18" charset="0"/>
              </a:rPr>
              <a:t>System Integration – Integrate the trained models with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 and React for simulated real-time monitoring.</a:t>
            </a:r>
          </a:p>
        </p:txBody>
      </p:sp>
      <p:sp>
        <p:nvSpPr>
          <p:cNvPr id="13" name="Title 1">
            <a:extLst>
              <a:ext uri="{FF2B5EF4-FFF2-40B4-BE49-F238E27FC236}">
                <a16:creationId xmlns:a16="http://schemas.microsoft.com/office/drawing/2014/main" id="{68E47D71-DD8E-25F9-9D8D-338B412A5187}"/>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Methodology and Tool Used</a:t>
            </a:r>
          </a:p>
        </p:txBody>
      </p:sp>
      <p:pic>
        <p:nvPicPr>
          <p:cNvPr id="10246" name="Picture 4">
            <a:extLst>
              <a:ext uri="{FF2B5EF4-FFF2-40B4-BE49-F238E27FC236}">
                <a16:creationId xmlns:a16="http://schemas.microsoft.com/office/drawing/2014/main" id="{B3B92701-36ED-A387-3508-3830818FD5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4">
            <a:extLst>
              <a:ext uri="{FF2B5EF4-FFF2-40B4-BE49-F238E27FC236}">
                <a16:creationId xmlns:a16="http://schemas.microsoft.com/office/drawing/2014/main" id="{9E359802-9CC5-88F3-839B-66B4D4985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CD32-5BE1-241F-BDAE-E0C995F09127}"/>
            </a:ext>
          </a:extLst>
        </p:cNvPr>
        <p:cNvGrpSpPr/>
        <p:nvPr/>
      </p:nvGrpSpPr>
      <p:grpSpPr>
        <a:xfrm>
          <a:off x="0" y="0"/>
          <a:ext cx="0" cy="0"/>
          <a:chOff x="0" y="0"/>
          <a:chExt cx="0" cy="0"/>
        </a:xfrm>
      </p:grpSpPr>
      <p:pic>
        <p:nvPicPr>
          <p:cNvPr id="10245" name="Picture 2">
            <a:extLst>
              <a:ext uri="{FF2B5EF4-FFF2-40B4-BE49-F238E27FC236}">
                <a16:creationId xmlns:a16="http://schemas.microsoft.com/office/drawing/2014/main" id="{7C2E4CEC-4DBC-BD02-745A-01DFFBE630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7">
            <a:extLst>
              <a:ext uri="{FF2B5EF4-FFF2-40B4-BE49-F238E27FC236}">
                <a16:creationId xmlns:a16="http://schemas.microsoft.com/office/drawing/2014/main" id="{BB09B622-F95D-9E9A-7A94-70FCF7D7FC0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0243" name="Title 1">
            <a:extLst>
              <a:ext uri="{FF2B5EF4-FFF2-40B4-BE49-F238E27FC236}">
                <a16:creationId xmlns:a16="http://schemas.microsoft.com/office/drawing/2014/main" id="{F815157B-BABC-28AB-7871-063D2EFFB223}"/>
              </a:ext>
            </a:extLst>
          </p:cNvPr>
          <p:cNvSpPr txBox="1">
            <a:spLocks/>
          </p:cNvSpPr>
          <p:nvPr/>
        </p:nvSpPr>
        <p:spPr bwMode="auto">
          <a:xfrm>
            <a:off x="2379734" y="1220724"/>
            <a:ext cx="6142474" cy="4416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15000"/>
              </a:lnSpc>
              <a:buNone/>
            </a:pPr>
            <a:r>
              <a:rPr lang="en-IN" sz="1800" u="sng" dirty="0">
                <a:latin typeface="Times New Roman" panose="02020603050405020304" pitchFamily="18" charset="0"/>
                <a:cs typeface="Times New Roman" panose="02020603050405020304" pitchFamily="18" charset="0"/>
              </a:rPr>
              <a:t>Tools &amp; Technologies Used</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Programming Language: Python</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Machine Learning: Scikit-learn</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Data Processing: Pandas, NumPy</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Data Analysis &amp; Visualization: Matplotlib</a:t>
            </a:r>
            <a:endParaRPr lang="en-IN" sz="1800" dirty="0">
              <a:latin typeface="Times New Roman" panose="02020603050405020304" pitchFamily="18" charset="0"/>
              <a:cs typeface="Times New Roman" panose="02020603050405020304" pitchFamily="18" charset="0"/>
            </a:endParaRP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Backend: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Frontend: React.js, Vite</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UI &amp; Visualization: Tailwind CSS, Recharts, </a:t>
            </a:r>
            <a:r>
              <a:rPr lang="en-IN" sz="1800" dirty="0" err="1">
                <a:latin typeface="Times New Roman" panose="02020603050405020304" pitchFamily="18" charset="0"/>
                <a:cs typeface="Times New Roman" panose="02020603050405020304" pitchFamily="18" charset="0"/>
              </a:rPr>
              <a:t>Lucide</a:t>
            </a:r>
            <a:r>
              <a:rPr lang="en-IN" sz="1800" dirty="0">
                <a:latin typeface="Times New Roman" panose="02020603050405020304" pitchFamily="18" charset="0"/>
                <a:cs typeface="Times New Roman" panose="02020603050405020304" pitchFamily="18" charset="0"/>
              </a:rPr>
              <a:t> React</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Real-Time Data: REST APIs and Simulated Sensor Data</a:t>
            </a:r>
          </a:p>
          <a:p>
            <a:pPr marL="285750" indent="-285750">
              <a:lnSpc>
                <a:spcPct val="115000"/>
              </a:lnSpc>
              <a:buFont typeface="Arial"/>
              <a:buChar char="•"/>
            </a:pPr>
            <a:r>
              <a:rPr lang="en-IN" sz="1800" dirty="0">
                <a:latin typeface="Times New Roman" panose="02020603050405020304" pitchFamily="18" charset="0"/>
                <a:cs typeface="Times New Roman" panose="02020603050405020304" pitchFamily="18" charset="0"/>
              </a:rPr>
              <a:t>Development Tools: VS Code, Jupyter Notebook, Git/GitHub</a:t>
            </a:r>
          </a:p>
        </p:txBody>
      </p:sp>
      <p:sp>
        <p:nvSpPr>
          <p:cNvPr id="13" name="Title 1">
            <a:extLst>
              <a:ext uri="{FF2B5EF4-FFF2-40B4-BE49-F238E27FC236}">
                <a16:creationId xmlns:a16="http://schemas.microsoft.com/office/drawing/2014/main" id="{5E399F4D-6E08-8571-ADE3-9480649B2E43}"/>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Methodology and Tool Used</a:t>
            </a:r>
          </a:p>
        </p:txBody>
      </p:sp>
      <p:pic>
        <p:nvPicPr>
          <p:cNvPr id="10246" name="Picture 4">
            <a:extLst>
              <a:ext uri="{FF2B5EF4-FFF2-40B4-BE49-F238E27FC236}">
                <a16:creationId xmlns:a16="http://schemas.microsoft.com/office/drawing/2014/main" id="{D5E48057-017C-47AB-EA3A-F1E36D320B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4">
            <a:extLst>
              <a:ext uri="{FF2B5EF4-FFF2-40B4-BE49-F238E27FC236}">
                <a16:creationId xmlns:a16="http://schemas.microsoft.com/office/drawing/2014/main" id="{28FED399-0332-A208-A0CD-3F336D87A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664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FCEF230-3085-58B0-1F4E-7C4513674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1267" name="Title 1">
            <a:extLst>
              <a:ext uri="{FF2B5EF4-FFF2-40B4-BE49-F238E27FC236}">
                <a16:creationId xmlns:a16="http://schemas.microsoft.com/office/drawing/2014/main" id="{1FF02D81-4E11-6740-9A07-8EB97E31342D}"/>
              </a:ext>
            </a:extLst>
          </p:cNvPr>
          <p:cNvSpPr txBox="1">
            <a:spLocks/>
          </p:cNvSpPr>
          <p:nvPr/>
        </p:nvSpPr>
        <p:spPr bwMode="auto">
          <a:xfrm>
            <a:off x="1762125" y="1016222"/>
            <a:ext cx="8667750" cy="474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Engine (Random Forest): RUL MAE of 13.80 cycles on 100 unseen FD001 test engines.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Battery (Linear Regression / Random Forest): SOH MAE of 2.62 percentage points; RUL MAE of 9.36 cycles on unseen cells.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Hydraulic (Logistic Regression / Extra Trees / Random Forest): 83.99% to 96.1% accuracy across the four component conditions.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Landing Gear (Random Forest, digital-twin data): 95.07% fault accuracy; RUL MAE of 1.37 percentage points.</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Fuel (Extra Trees): detects 93.13% of abnormal readings as a screening signal.</a:t>
            </a:r>
          </a:p>
          <a:p>
            <a:pPr marL="342900" indent="-342900" algn="l">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All outputs mapped to a Maintenance Recommendation and Priority on the dashboard.</a:t>
            </a:r>
          </a:p>
        </p:txBody>
      </p:sp>
      <p:sp>
        <p:nvSpPr>
          <p:cNvPr id="13" name="Title 1">
            <a:extLst>
              <a:ext uri="{FF2B5EF4-FFF2-40B4-BE49-F238E27FC236}">
                <a16:creationId xmlns:a16="http://schemas.microsoft.com/office/drawing/2014/main" id="{F4287D39-66A2-F279-6A86-753D2EB5108A}"/>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00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Implementation &amp; Results</a:t>
            </a:r>
          </a:p>
        </p:txBody>
      </p:sp>
      <p:pic>
        <p:nvPicPr>
          <p:cNvPr id="11269" name="Picture 2">
            <a:extLst>
              <a:ext uri="{FF2B5EF4-FFF2-40B4-BE49-F238E27FC236}">
                <a16:creationId xmlns:a16="http://schemas.microsoft.com/office/drawing/2014/main" id="{89B0D702-625C-3E8D-2C89-B2B9B3FCD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
            <a:extLst>
              <a:ext uri="{FF2B5EF4-FFF2-40B4-BE49-F238E27FC236}">
                <a16:creationId xmlns:a16="http://schemas.microsoft.com/office/drawing/2014/main" id="{791CC8BC-FCF8-F921-A0EC-90D801C44E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
            <a:extLst>
              <a:ext uri="{FF2B5EF4-FFF2-40B4-BE49-F238E27FC236}">
                <a16:creationId xmlns:a16="http://schemas.microsoft.com/office/drawing/2014/main" id="{8EA1021D-A73B-BAC1-78DA-9E7BA6438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48CE7AD-BA14-AB41-5BCA-37FF9469C00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291" name="Title 1">
            <a:extLst>
              <a:ext uri="{FF2B5EF4-FFF2-40B4-BE49-F238E27FC236}">
                <a16:creationId xmlns:a16="http://schemas.microsoft.com/office/drawing/2014/main" id="{5F24C6C6-FF34-04D6-772D-91C76E60E850}"/>
              </a:ext>
            </a:extLst>
          </p:cNvPr>
          <p:cNvSpPr txBox="1">
            <a:spLocks/>
          </p:cNvSpPr>
          <p:nvPr/>
        </p:nvSpPr>
        <p:spPr bwMode="auto">
          <a:xfrm>
            <a:off x="2293938" y="205422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4AC18D9E-AFD5-4D92-7473-515D91868661}"/>
              </a:ext>
            </a:extLst>
          </p:cNvPr>
          <p:cNvGraphicFramePr>
            <a:graphicFrameLocks noGrp="1"/>
          </p:cNvGraphicFramePr>
          <p:nvPr>
            <p:extLst>
              <p:ext uri="{D42A27DB-BD31-4B8C-83A1-F6EECF244321}">
                <p14:modId xmlns:p14="http://schemas.microsoft.com/office/powerpoint/2010/main" val="3661950893"/>
              </p:ext>
            </p:extLst>
          </p:nvPr>
        </p:nvGraphicFramePr>
        <p:xfrm>
          <a:off x="860425" y="1190625"/>
          <a:ext cx="10252075" cy="4640262"/>
        </p:xfrm>
        <a:graphic>
          <a:graphicData uri="http://schemas.openxmlformats.org/drawingml/2006/table">
            <a:tbl>
              <a:tblPr/>
              <a:tblGrid>
                <a:gridCol w="4486268">
                  <a:extLst>
                    <a:ext uri="{9D8B030D-6E8A-4147-A177-3AD203B41FA5}">
                      <a16:colId xmlns:a16="http://schemas.microsoft.com/office/drawing/2014/main" val="20000"/>
                    </a:ext>
                  </a:extLst>
                </a:gridCol>
                <a:gridCol w="1595707">
                  <a:extLst>
                    <a:ext uri="{9D8B030D-6E8A-4147-A177-3AD203B41FA5}">
                      <a16:colId xmlns:a16="http://schemas.microsoft.com/office/drawing/2014/main" val="20001"/>
                    </a:ext>
                  </a:extLst>
                </a:gridCol>
                <a:gridCol w="1440832">
                  <a:extLst>
                    <a:ext uri="{9D8B030D-6E8A-4147-A177-3AD203B41FA5}">
                      <a16:colId xmlns:a16="http://schemas.microsoft.com/office/drawing/2014/main" val="20002"/>
                    </a:ext>
                  </a:extLst>
                </a:gridCol>
                <a:gridCol w="1288436">
                  <a:extLst>
                    <a:ext uri="{9D8B030D-6E8A-4147-A177-3AD203B41FA5}">
                      <a16:colId xmlns:a16="http://schemas.microsoft.com/office/drawing/2014/main" val="20003"/>
                    </a:ext>
                  </a:extLst>
                </a:gridCol>
                <a:gridCol w="1440832">
                  <a:extLst>
                    <a:ext uri="{9D8B030D-6E8A-4147-A177-3AD203B41FA5}">
                      <a16:colId xmlns:a16="http://schemas.microsoft.com/office/drawing/2014/main" val="20004"/>
                    </a:ext>
                  </a:extLst>
                </a:gridCol>
              </a:tblGrid>
              <a:tr h="560886">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Months  Activities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August’26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Sept’26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Oct’26</a:t>
                      </a: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txBody>
                  <a:tcPr marL="68585" marR="68585"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1" i="0" u="none" strike="noStrike" kern="1200" cap="none" normalizeH="0" baseline="0" dirty="0">
                          <a:ln>
                            <a:noFill/>
                          </a:ln>
                          <a:solidFill>
                            <a:schemeClr val="bg1"/>
                          </a:solidFill>
                          <a:effectLst/>
                          <a:latin typeface="Times New Roman" panose="02020603050405020304" pitchFamily="18" charset="0"/>
                          <a:ea typeface="+mn-ea"/>
                          <a:cs typeface="Times New Roman" panose="02020603050405020304" pitchFamily="18" charset="0"/>
                        </a:rPr>
                        <a:t>Status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extLst>
                  <a:ext uri="{0D108BD9-81ED-4DB2-BD59-A6C34878D82A}">
                    <a16:rowId xmlns:a16="http://schemas.microsoft.com/office/drawing/2014/main" val="10000"/>
                  </a:ext>
                </a:extLst>
              </a:tr>
              <a:tr h="6051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Literature Reviews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60037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Requirement Analysis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defRPr/>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57351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Designing</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Experimental Analysis</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Module wise Implementation</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5"/>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Testing and Debugging</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6"/>
                  </a:ext>
                </a:extLst>
              </a:tr>
              <a:tr h="57509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Preparation of Project Report</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sz="2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a:t>
                      </a:r>
                    </a:p>
                  </a:txBody>
                  <a:tcPr marL="68585" marR="68585"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7"/>
                  </a:ext>
                </a:extLst>
              </a:tr>
            </a:tbl>
          </a:graphicData>
        </a:graphic>
      </p:graphicFrame>
      <p:sp>
        <p:nvSpPr>
          <p:cNvPr id="14" name="Title 1">
            <a:extLst>
              <a:ext uri="{FF2B5EF4-FFF2-40B4-BE49-F238E27FC236}">
                <a16:creationId xmlns:a16="http://schemas.microsoft.com/office/drawing/2014/main" id="{6BFFB5FD-A512-5671-567E-15E19B7B9D09}"/>
              </a:ext>
            </a:extLst>
          </p:cNvPr>
          <p:cNvSpPr txBox="1">
            <a:spLocks/>
          </p:cNvSpPr>
          <p:nvPr/>
        </p:nvSpPr>
        <p:spPr bwMode="auto">
          <a:xfrm>
            <a:off x="1912938" y="0"/>
            <a:ext cx="8399462"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Work – Plan </a:t>
            </a:r>
          </a:p>
        </p:txBody>
      </p:sp>
      <p:pic>
        <p:nvPicPr>
          <p:cNvPr id="12349" name="Picture 2">
            <a:extLst>
              <a:ext uri="{FF2B5EF4-FFF2-40B4-BE49-F238E27FC236}">
                <a16:creationId xmlns:a16="http://schemas.microsoft.com/office/drawing/2014/main" id="{A84D05A2-DC48-7048-B597-CB26D90141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 y="-523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50" name="Picture 4">
            <a:extLst>
              <a:ext uri="{FF2B5EF4-FFF2-40B4-BE49-F238E27FC236}">
                <a16:creationId xmlns:a16="http://schemas.microsoft.com/office/drawing/2014/main" id="{9B4D145B-5551-ECE5-A2C6-9EC0E228B0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79088" y="-234950"/>
            <a:ext cx="16621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51" name="Picture 4">
            <a:extLst>
              <a:ext uri="{FF2B5EF4-FFF2-40B4-BE49-F238E27FC236}">
                <a16:creationId xmlns:a16="http://schemas.microsoft.com/office/drawing/2014/main" id="{BD15907E-4A41-DA7D-CFE1-D047C70A5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FCEF230-3085-58B0-1F4E-7C4513674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1267" name="Title 1">
            <a:extLst>
              <a:ext uri="{FF2B5EF4-FFF2-40B4-BE49-F238E27FC236}">
                <a16:creationId xmlns:a16="http://schemas.microsoft.com/office/drawing/2014/main" id="{1FF02D81-4E11-6740-9A07-8EB97E31342D}"/>
              </a:ext>
            </a:extLst>
          </p:cNvPr>
          <p:cNvSpPr txBox="1">
            <a:spLocks/>
          </p:cNvSpPr>
          <p:nvPr/>
        </p:nvSpPr>
        <p:spPr bwMode="auto">
          <a:xfrm>
            <a:off x="1941513" y="750316"/>
            <a:ext cx="8667750" cy="5359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Overall Project Completion: </a:t>
            </a:r>
            <a:r>
              <a:rPr lang="en-US" sz="1900" b="1" dirty="0">
                <a:latin typeface="Times New Roman" panose="02020603050405020304" pitchFamily="18" charset="0"/>
                <a:cs typeface="Times New Roman" panose="02020603050405020304" pitchFamily="18" charset="0"/>
              </a:rPr>
              <a:t>100</a:t>
            </a:r>
            <a:r>
              <a:rPr lang="en-US" sz="1900" dirty="0">
                <a:latin typeface="Times New Roman" panose="02020603050405020304" pitchFamily="18" charset="0"/>
                <a:cs typeface="Times New Roman" panose="02020603050405020304" pitchFamily="18" charset="0"/>
              </a:rPr>
              <a:t>%</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Scope &amp; Dataset Preparation – Completed for 5 aircraft subsystems.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Data Preprocessing – Completed for all selected datasets.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Feature Engineering – Completed for relevant sensor and operational parameters.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ML Model Development – Final models trained and saved for all 5 subsystems.</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Model Evaluation – Performance evaluation and comparison completed. </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Backend Integration – FastAPI APIs completed for all 5 subsystems.</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Frontend Integration – React dashboard with monitoring and data upload.</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Testing &amp; Validation – 232 tests passed; reproducibility verified.</a:t>
            </a:r>
          </a:p>
          <a:p>
            <a:pPr marL="342900" indent="-342900" algn="l">
              <a:lnSpc>
                <a:spcPct val="130000"/>
              </a:lnSpc>
              <a:buFont typeface="+mj-lt"/>
              <a:buAutoNum type="arabicPeriod"/>
            </a:pPr>
            <a:r>
              <a:rPr lang="en-US" sz="1900" dirty="0">
                <a:latin typeface="Times New Roman" panose="02020603050405020304" pitchFamily="18" charset="0"/>
                <a:cs typeface="Times New Roman" panose="02020603050405020304" pitchFamily="18" charset="0"/>
              </a:rPr>
              <a:t>Final Phase – Explainability, report, research paper and presentation completed.</a:t>
            </a:r>
          </a:p>
        </p:txBody>
      </p:sp>
      <p:sp>
        <p:nvSpPr>
          <p:cNvPr id="13" name="Title 1">
            <a:extLst>
              <a:ext uri="{FF2B5EF4-FFF2-40B4-BE49-F238E27FC236}">
                <a16:creationId xmlns:a16="http://schemas.microsoft.com/office/drawing/2014/main" id="{F4287D39-66A2-F279-6A86-753D2EB5108A}"/>
              </a:ext>
            </a:extLst>
          </p:cNvPr>
          <p:cNvSpPr txBox="1">
            <a:spLocks/>
          </p:cNvSpPr>
          <p:nvPr/>
        </p:nvSpPr>
        <p:spPr bwMode="auto">
          <a:xfrm>
            <a:off x="1941513" y="0"/>
            <a:ext cx="7773987"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solidFill>
                  <a:schemeClr val="bg1"/>
                </a:solidFill>
                <a:latin typeface="Times New Roman" pitchFamily="18" charset="0"/>
                <a:cs typeface="Times New Roman" pitchFamily="18" charset="0"/>
              </a:rPr>
              <a:t>Project Completion Status</a:t>
            </a:r>
          </a:p>
        </p:txBody>
      </p:sp>
      <p:pic>
        <p:nvPicPr>
          <p:cNvPr id="11269" name="Picture 2">
            <a:extLst>
              <a:ext uri="{FF2B5EF4-FFF2-40B4-BE49-F238E27FC236}">
                <a16:creationId xmlns:a16="http://schemas.microsoft.com/office/drawing/2014/main" id="{89B0D702-625C-3E8D-2C89-B2B9B3FCD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65088"/>
            <a:ext cx="16383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
            <a:extLst>
              <a:ext uri="{FF2B5EF4-FFF2-40B4-BE49-F238E27FC236}">
                <a16:creationId xmlns:a16="http://schemas.microsoft.com/office/drawing/2014/main" id="{791CC8BC-FCF8-F921-A0EC-90D801C44E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9683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
            <a:extLst>
              <a:ext uri="{FF2B5EF4-FFF2-40B4-BE49-F238E27FC236}">
                <a16:creationId xmlns:a16="http://schemas.microsoft.com/office/drawing/2014/main" id="{8EA1021D-A73B-BAC1-78DA-9E7BA6438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D3108C91-27A0-62FF-F658-279443738678}"/>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315" name="Title 1">
            <a:extLst>
              <a:ext uri="{FF2B5EF4-FFF2-40B4-BE49-F238E27FC236}">
                <a16:creationId xmlns:a16="http://schemas.microsoft.com/office/drawing/2014/main" id="{AE9CBB8D-36FA-63D5-06FC-97BC3459C5FE}"/>
              </a:ext>
            </a:extLst>
          </p:cNvPr>
          <p:cNvSpPr txBox="1">
            <a:spLocks/>
          </p:cNvSpPr>
          <p:nvPr/>
        </p:nvSpPr>
        <p:spPr bwMode="auto">
          <a:xfrm>
            <a:off x="2251075" y="1069975"/>
            <a:ext cx="72390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buFontTx/>
              <a:buNone/>
            </a:pPr>
            <a:endParaRPr lang="en-US" altLang="en-US" sz="3900">
              <a:solidFill>
                <a:srgbClr val="525252"/>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9714237-E18C-C498-A435-DC5A82FB7B43}"/>
              </a:ext>
            </a:extLst>
          </p:cNvPr>
          <p:cNvSpPr/>
          <p:nvPr/>
        </p:nvSpPr>
        <p:spPr>
          <a:xfrm>
            <a:off x="1766888" y="1978025"/>
            <a:ext cx="8207375" cy="1862138"/>
          </a:xfrm>
          <a:prstGeom prst="rect">
            <a:avLst/>
          </a:prstGeom>
        </p:spPr>
        <p:txBody>
          <a:bodyPr>
            <a:spAutoFit/>
          </a:bodyPr>
          <a:lstStyle/>
          <a:p>
            <a:pPr algn="ctr" fontAlgn="auto">
              <a:spcBef>
                <a:spcPts val="0"/>
              </a:spcBef>
              <a:spcAft>
                <a:spcPts val="0"/>
              </a:spcAft>
              <a:defRPr/>
            </a:pPr>
            <a:r>
              <a:rPr lang="en-US" sz="11500" b="1" i="1" dirty="0">
                <a:ln w="3175"/>
                <a:solidFill>
                  <a:srgbClr val="0070C0"/>
                </a:solidFill>
                <a:effectLst>
                  <a:outerShdw blurRad="50800" dist="39000" dir="5460000" algn="tl">
                    <a:srgbClr val="000000">
                      <a:alpha val="38000"/>
                    </a:srgbClr>
                  </a:outerShdw>
                </a:effectLst>
                <a:latin typeface="Bodoni MT" pitchFamily="18" charset="0"/>
                <a:cs typeface="+mn-cs"/>
              </a:rPr>
              <a:t>Thank you !</a:t>
            </a:r>
            <a:endParaRPr lang="en-IN" sz="11500" b="1" i="1" dirty="0">
              <a:ln w="3175"/>
              <a:solidFill>
                <a:srgbClr val="0070C0"/>
              </a:solidFill>
              <a:effectLst>
                <a:outerShdw blurRad="50800" dist="39000" dir="5460000" algn="tl">
                  <a:srgbClr val="000000">
                    <a:alpha val="38000"/>
                  </a:srgbClr>
                </a:outerShdw>
              </a:effectLst>
              <a:latin typeface="Bodoni MT" pitchFamily="18" charset="0"/>
              <a:cs typeface="+mn-cs"/>
            </a:endParaRPr>
          </a:p>
        </p:txBody>
      </p:sp>
      <p:pic>
        <p:nvPicPr>
          <p:cNvPr id="13317" name="Picture 2">
            <a:extLst>
              <a:ext uri="{FF2B5EF4-FFF2-40B4-BE49-F238E27FC236}">
                <a16:creationId xmlns:a16="http://schemas.microsoft.com/office/drawing/2014/main" id="{1A7BF67F-778C-683D-5393-CFD5285978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138" y="30163"/>
            <a:ext cx="16383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4">
            <a:extLst>
              <a:ext uri="{FF2B5EF4-FFF2-40B4-BE49-F238E27FC236}">
                <a16:creationId xmlns:a16="http://schemas.microsoft.com/office/drawing/2014/main" id="{F9731DD9-DEC0-4413-4279-2028CA0044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9888" y="-103188"/>
            <a:ext cx="1662112"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4">
            <a:extLst>
              <a:ext uri="{FF2B5EF4-FFF2-40B4-BE49-F238E27FC236}">
                <a16:creationId xmlns:a16="http://schemas.microsoft.com/office/drawing/2014/main" id="{34DB374C-89AE-57A5-4673-14EE72004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42038"/>
            <a:ext cx="121920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2951</TotalTime>
  <Words>1192</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Bodoni MT</vt:lpstr>
      <vt:lpstr>Calibri</vt:lpstr>
      <vt:lpstr>Calibri Light</vt:lpstr>
      <vt:lpstr>Castellar</vt:lpstr>
      <vt:lpstr>Times New Roman</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
  <cp:revision>115</cp:revision>
  <cp:lastPrinted>2018-01-20T12:20:28Z</cp:lastPrinted>
  <dcterms:created xsi:type="dcterms:W3CDTF">2018-01-20T09:03:31Z</dcterms:created>
  <dcterms:modified xsi:type="dcterms:W3CDTF">2026-09-26T02:47:53Z</dcterms:modified>
</cp:coreProperties>
</file>